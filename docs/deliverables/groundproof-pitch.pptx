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816875ffc0a4b28" /><Relationship Type="http://schemas.openxmlformats.org/officeDocument/2006/relationships/extended-properties" Target="/docProps/app.xml" Id="R9884c05434894f07" /><Relationship Type="http://schemas.openxmlformats.org/officeDocument/2006/relationships/officeDocument" Target="/ppt/presentation.xml" Id="R30b064fd7f0b4402" /></Relationships>
</file>

<file path=ppt/presentation.xml><?xml version="1.0" encoding="utf-8"?>
<p:presentation xmlns:p="http://schemas.openxmlformats.org/presentationml/2006/main">
  <p:sldMasterIdLst>
    <p:sldMasterId xmlns:r="http://schemas.openxmlformats.org/officeDocument/2006/relationships" id="2147483648" r:id="R55513f2d225c4e23"/>
  </p:sldMasterIdLst>
  <p:notesMasterIdLst>
    <p:notesMasterId xmlns:r="http://schemas.openxmlformats.org/officeDocument/2006/relationships" r:id="R02f6a9ba21134ec2"/>
  </p:notesMasterIdLst>
  <p:sldIdLst>
    <p:sldId xmlns:r="http://schemas.openxmlformats.org/officeDocument/2006/relationships" id="256" r:id="Rd761c2a6121a4826"/>
    <p:sldId xmlns:r="http://schemas.openxmlformats.org/officeDocument/2006/relationships" id="257" r:id="Rb80cdb222b7049b8"/>
    <p:sldId xmlns:r="http://schemas.openxmlformats.org/officeDocument/2006/relationships" id="258" r:id="R35b9ce215dc64a4f"/>
    <p:sldId xmlns:r="http://schemas.openxmlformats.org/officeDocument/2006/relationships" id="259" r:id="R60a94562be334663"/>
    <p:sldId xmlns:r="http://schemas.openxmlformats.org/officeDocument/2006/relationships" id="260" r:id="Rb5bbf89937084641"/>
    <p:sldId xmlns:r="http://schemas.openxmlformats.org/officeDocument/2006/relationships" id="261" r:id="R5a022290d4a34cc7"/>
    <p:sldId xmlns:r="http://schemas.openxmlformats.org/officeDocument/2006/relationships" id="262" r:id="Rcfe60f0bfd7841eb"/>
    <p:sldId xmlns:r="http://schemas.openxmlformats.org/officeDocument/2006/relationships" id="263" r:id="Rd6f6713fb5e44409"/>
    <p:sldId xmlns:r="http://schemas.openxmlformats.org/officeDocument/2006/relationships" id="264" r:id="R2681352938c2487a"/>
    <p:sldId xmlns:r="http://schemas.openxmlformats.org/officeDocument/2006/relationships" id="265" r:id="R7e12edffc5a64e7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6fe1af5feac4dbc" /><Relationship Type="http://schemas.openxmlformats.org/officeDocument/2006/relationships/slideMaster" Target="/ppt/slideMasters/slideMaster1.xml" Id="R55513f2d225c4e23" /><Relationship Type="http://schemas.openxmlformats.org/officeDocument/2006/relationships/notesMaster" Target="/ppt/notesMasters/notesMaster1.xml" Id="R02f6a9ba21134ec2" /><Relationship Type="http://schemas.openxmlformats.org/officeDocument/2006/relationships/presProps" Target="/ppt/presProps.xml" Id="Ra01eea4f5e074e75" /><Relationship Type="http://schemas.openxmlformats.org/officeDocument/2006/relationships/tableStyles" Target="/ppt/tableStyles.xml" Id="R48fba656615b42d1" /><Relationship Type="http://schemas.openxmlformats.org/officeDocument/2006/relationships/slide" Target="/ppt/slides/slide1.xml" Id="Rd761c2a6121a4826" /><Relationship Type="http://schemas.openxmlformats.org/officeDocument/2006/relationships/slide" Target="/ppt/slides/slide2.xml" Id="Rb80cdb222b7049b8" /><Relationship Type="http://schemas.openxmlformats.org/officeDocument/2006/relationships/slide" Target="/ppt/slides/slide3.xml" Id="R35b9ce215dc64a4f" /><Relationship Type="http://schemas.openxmlformats.org/officeDocument/2006/relationships/slide" Target="/ppt/slides/slide4.xml" Id="R60a94562be334663" /><Relationship Type="http://schemas.openxmlformats.org/officeDocument/2006/relationships/slide" Target="/ppt/slides/slide5.xml" Id="Rb5bbf89937084641" /><Relationship Type="http://schemas.openxmlformats.org/officeDocument/2006/relationships/slide" Target="/ppt/slides/slide6.xml" Id="R5a022290d4a34cc7" /><Relationship Type="http://schemas.openxmlformats.org/officeDocument/2006/relationships/slide" Target="/ppt/slides/slide7.xml" Id="Rcfe60f0bfd7841eb" /><Relationship Type="http://schemas.openxmlformats.org/officeDocument/2006/relationships/slide" Target="/ppt/slides/slide8.xml" Id="Rd6f6713fb5e44409" /><Relationship Type="http://schemas.openxmlformats.org/officeDocument/2006/relationships/slide" Target="/ppt/slides/slide9.xml" Id="R2681352938c2487a" /><Relationship Type="http://schemas.openxmlformats.org/officeDocument/2006/relationships/slide" Target="/ppt/slides/slide10.xml" Id="R7e12edffc5a64e7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3fe33983ea9459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8181ff41af54265" /><Relationship Type="http://schemas.openxmlformats.org/officeDocument/2006/relationships/notesMaster" Target="/ppt/notesMasters/notesMaster1.xml" Id="Rb7ce45207efd4c53" /></Relationships>
</file>

<file path=ppt/notesSlides/_rels/notesSlide2.xml.rels>&#65279;<?xml version="1.0" encoding="utf-8"?><Relationships xmlns="http://schemas.openxmlformats.org/package/2006/relationships"><Relationship Type="http://schemas.openxmlformats.org/officeDocument/2006/relationships/slide" Target="/ppt/slides/slide2.xml" Id="R4e1076c035e4402f" /><Relationship Type="http://schemas.openxmlformats.org/officeDocument/2006/relationships/notesMaster" Target="/ppt/notesMasters/notesMaster1.xml" Id="R4031a07496094ef5" /></Relationships>
</file>

<file path=ppt/notesSlides/_rels/notesSlide3.xml.rels>&#65279;<?xml version="1.0" encoding="utf-8"?><Relationships xmlns="http://schemas.openxmlformats.org/package/2006/relationships"><Relationship Type="http://schemas.openxmlformats.org/officeDocument/2006/relationships/slide" Target="/ppt/slides/slide3.xml" Id="Raea6bf8a30fb475c" /><Relationship Type="http://schemas.openxmlformats.org/officeDocument/2006/relationships/notesMaster" Target="/ppt/notesMasters/notesMaster1.xml" Id="Rd549e4a6725e4983" /></Relationships>
</file>

<file path=ppt/notesSlides/_rels/notesSlide4.xml.rels>&#65279;<?xml version="1.0" encoding="utf-8"?><Relationships xmlns="http://schemas.openxmlformats.org/package/2006/relationships"><Relationship Type="http://schemas.openxmlformats.org/officeDocument/2006/relationships/slide" Target="/ppt/slides/slide4.xml" Id="R5ef76fb40f7842a6" /><Relationship Type="http://schemas.openxmlformats.org/officeDocument/2006/relationships/notesMaster" Target="/ppt/notesMasters/notesMaster1.xml" Id="R6516ecb7fb624867" /></Relationships>
</file>

<file path=ppt/notesSlides/_rels/notesSlide5.xml.rels>&#65279;<?xml version="1.0" encoding="utf-8"?><Relationships xmlns="http://schemas.openxmlformats.org/package/2006/relationships"><Relationship Type="http://schemas.openxmlformats.org/officeDocument/2006/relationships/slide" Target="/ppt/slides/slide5.xml" Id="R2ce401d97c994e15" /><Relationship Type="http://schemas.openxmlformats.org/officeDocument/2006/relationships/notesMaster" Target="/ppt/notesMasters/notesMaster1.xml" Id="R2f8d0798b4d74468" /></Relationships>
</file>

<file path=ppt/notesSlides/_rels/notesSlide6.xml.rels>&#65279;<?xml version="1.0" encoding="utf-8"?><Relationships xmlns="http://schemas.openxmlformats.org/package/2006/relationships"><Relationship Type="http://schemas.openxmlformats.org/officeDocument/2006/relationships/slide" Target="/ppt/slides/slide6.xml" Id="R1b0ce324bd5945fb" /><Relationship Type="http://schemas.openxmlformats.org/officeDocument/2006/relationships/notesMaster" Target="/ppt/notesMasters/notesMaster1.xml" Id="R628659318f054edf" /></Relationships>
</file>

<file path=ppt/notesSlides/_rels/notesSlide7.xml.rels>&#65279;<?xml version="1.0" encoding="utf-8"?><Relationships xmlns="http://schemas.openxmlformats.org/package/2006/relationships"><Relationship Type="http://schemas.openxmlformats.org/officeDocument/2006/relationships/slide" Target="/ppt/slides/slide7.xml" Id="R6593e875ac7e43ca" /><Relationship Type="http://schemas.openxmlformats.org/officeDocument/2006/relationships/notesMaster" Target="/ppt/notesMasters/notesMaster1.xml" Id="R85686275724c4904" /></Relationships>
</file>

<file path=ppt/notesSlides/_rels/notesSlide8.xml.rels>&#65279;<?xml version="1.0" encoding="utf-8"?><Relationships xmlns="http://schemas.openxmlformats.org/package/2006/relationships"><Relationship Type="http://schemas.openxmlformats.org/officeDocument/2006/relationships/slide" Target="/ppt/slides/slide8.xml" Id="Rceda4e6e51d34901" /><Relationship Type="http://schemas.openxmlformats.org/officeDocument/2006/relationships/notesMaster" Target="/ppt/notesMasters/notesMaster1.xml" Id="Rbda1a267c00044a1" /></Relationships>
</file>

<file path=ppt/notesSlides/_rels/notesSlide9.xml.rels>&#65279;<?xml version="1.0" encoding="utf-8"?><Relationships xmlns="http://schemas.openxmlformats.org/package/2006/relationships"><Relationship Type="http://schemas.openxmlformats.org/officeDocument/2006/relationships/slide" Target="/ppt/slides/slide9.xml" Id="Rabef0ae427294eb8" /><Relationship Type="http://schemas.openxmlformats.org/officeDocument/2006/relationships/notesMaster" Target="/ppt/notesMasters/notesMaster1.xml" Id="R1f0a2eeca4e740e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9c7657bd5514279" /><Relationship Type="http://schemas.openxmlformats.org/officeDocument/2006/relationships/notesMaster" Target="/ppt/notesMasters/notesMaster1.xml" Id="R924c105caa174aa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GroundProof by Shivam Gupta, founder and product lead. AI-assisted development and research. The current product is Demo Ready. Fictional jobs and controlled source changes demonstrate application behavior, not flight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scenario is fictional. The separation of ground-use conditions and aviation permissions is supported by FAA and NPS context: https://www.faa.gov/uas/resources/policy_library/UAS_Fact_Sheet_2023.pdf and https://www.nps.gov/articles/uncrewed-aircraft-in-the-national-parks.htm . Neither source establishes customer pain frequency or willingness to pay.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Product screenshot shows the actual application with fictional demo data. It may contain illustrative planned values, which are not earned revenue or savings. Source capture, source review, and mission approval are distinct operations.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demo dataset has six jobs, three sites and five sources. The Harbor Works fixture affects the first three jobs with a combined illustrative planned value of $4,800. This is a controlled simulation. It demonstrates dependency propagation and version-bound approval, not financial loss avoided.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server checks source hashes and review decisions, tenant ownership, timestamps, exact evidence coverage and the current mission revision. This is operational evidence administration, not flight authorization. The rule lab executes authored test scenarios. Exact test counts belong in the release validation report and live demonstration.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Authenticated Anakin retrieval verified September 23, 2026 at 10:06:40 UTC: Boston public filming guidance, 5,930 characters in 2,458 ms. Evidence file docs/deliverables/anakin-integration-proof.json. This single call is not an availability or completeness benchmark. The hosted frontend uses Firebase Hosting with a Cloud Run API gateway to a Cloudflare Worker and durable SQLite database. Accounts support single-use saved recovery keys, password changes and session revocation. Retained source captures have paginated history and content-integrity checks. No customer, pilot partner, revenue, flight performance, certification, or prevented incident is claimed. Evidence packet hashes show content consistency. They do not establish source truth, a genuine permit, or legal compliance. GroundProof leaves flight decisions with the operator and remote pilot.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Public feature descriptions inspected September 23, 2026: https://www.aloft.ai/air-control/ ; https://www.airhub.app/all-features ; https://www.droneharmony.com/asset-inspector ; https://anakin.io/products/monitoring . GroundProof does not claim those products lack version-aware capabilities. This is positioning, not a complete competitive teardown.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commercial numbers are hypotheses. Exact values $266.67 and $133.33 rounded to nearest dollar. Time capacity is not guaranteed payroll savings. Planning direct-cost case is $19 Anakin + $25 infrastructure + $20 support = $64 monthly cost, before other expenses. Anakin pricing inspected September 23, 2026 at https://anakin.io/pricing . 25 sites x 2 sources x 2 daily checks x 30 days = 3,000 basic captures, within the stated 5,000 Pro credits. Scheduled source monitoring and protective supplier budgets are implemented. Commercial billing and multi-user membership remain future work. The current product and initial pilot use one named coordinator account. The 25-site/five-user plan is future scope, not available team membership. A higher-volume paid deployment would require adjusting supplier budgets and verifying actual cost.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Pilot proposal only. Target 5-10 recurring sites and at least 30 job reviews if available. These are feasibility targets, not a statistically powered study. Maintain operator dispatch procedures throughout. Stop for an approval-control bypass or access-control defect. Measure total effort, including entering and maintaining private-record excerpts. Full definitions and go/no-go criteria: docs/PILOT.md.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Ask: a commercial drone inspection operator, an experienced remote pilot or operations reviewer, and representative source records for a four-week shadow pilot. AI-assisted development and research. The application does not authorize or control aircraft. Repository: https://github.com/shi1720/HTCJ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2ac3ef0eae846c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02c63d1e0b44047" /><Relationship Type="http://schemas.openxmlformats.org/officeDocument/2006/relationships/slideLayout" Target="/ppt/slideLayouts/slideLayout1.xml" Id="Rf0d3c92eda7c401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0d3c92eda7c401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a17d293179a4ab5" /><Relationship Type="http://schemas.openxmlformats.org/officeDocument/2006/relationships/notesSlide" Target="/ppt/notesSlides/notesSlide1.xml" Id="Rcdb7be648e6d4c5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aaafc44bc724e56" /><Relationship Type="http://schemas.openxmlformats.org/officeDocument/2006/relationships/notesSlide" Target="/ppt/notesSlides/notesSlide2.xml" Id="R590d9dd28c45422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7c7d93a30ed40d5" /><Relationship Type="http://schemas.openxmlformats.org/officeDocument/2006/relationships/image" Target="/ppt/media/image.png" Id="R36605b292048442d" /><Relationship Type="http://schemas.openxmlformats.org/officeDocument/2006/relationships/notesSlide" Target="/ppt/notesSlides/notesSlide3.xml" Id="Rcdd3fd4224f54ad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c3eb1f4c5514ddc" /><Relationship Type="http://schemas.openxmlformats.org/officeDocument/2006/relationships/image" Target="/ppt/media/image2.png" Id="R8758ed83f7654dca" /><Relationship Type="http://schemas.openxmlformats.org/officeDocument/2006/relationships/notesSlide" Target="/ppt/notesSlides/notesSlide4.xml" Id="R47a7f6633ea844d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47d1699e5074b06" /><Relationship Type="http://schemas.openxmlformats.org/officeDocument/2006/relationships/notesSlide" Target="/ppt/notesSlides/notesSlide5.xml" Id="R23270c265e954dd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98d593fe95b49bc" /><Relationship Type="http://schemas.openxmlformats.org/officeDocument/2006/relationships/notesSlide" Target="/ppt/notesSlides/notesSlide6.xml" Id="R9dff2030fe684a4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6d59dfdb0c04b77" /><Relationship Type="http://schemas.openxmlformats.org/officeDocument/2006/relationships/notesSlide" Target="/ppt/notesSlides/notesSlide7.xml" Id="R30e4c4c25c2e4b2c"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28266999b624c14" /><Relationship Type="http://schemas.openxmlformats.org/officeDocument/2006/relationships/notesSlide" Target="/ppt/notesSlides/notesSlide8.xml" Id="R174210aec5bb4bd4"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eb22f22cba254344" /><Relationship Type="http://schemas.openxmlformats.org/officeDocument/2006/relationships/notesSlide" Target="/ppt/notesSlides/notesSlide9.xml" Id="Rc0951a16357b470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e4541e3859dc4e3d" /><Relationship Type="http://schemas.openxmlformats.org/officeDocument/2006/relationships/hyperlink" Target="https://groundproof-flight.web.app" TargetMode="External" Id="R1b89c020073f42be" /><Relationship Type="http://schemas.openxmlformats.org/officeDocument/2006/relationships/notesSlide" Target="/ppt/notesSlides/notesSlide10.xml" Id="R7fb865ecbe8f4091" /></Relationships>
</file>

<file path=ppt/slides/slide1.xml><?xml version="1.0" encoding="utf-8"?>
<p:sld xmlns:p="http://schemas.openxmlformats.org/presentationml/2006/main">
  <p:cSld>
    <p:bg>
      <p:bgPr>
        <a:solidFill xmlns:a="http://schemas.openxmlformats.org/drawingml/2006/main">
          <a:srgbClr val="142C29"/>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E2A7DC7-BDBB-41D9-9C96-3FC796739980}"/>
              </a:ext>
            </a:extLst>
          </p:cNvPr>
          <p:cNvSpPr>
            <a:spLocks xmlns:a="http://schemas.openxmlformats.org/drawingml/2006/main" noGrp="1"/>
          </p:cNvSpPr>
          <p:nvPr/>
        </p:nvSpPr>
        <p:spPr>
          <a:xfrm xmlns:a="http://schemas.openxmlformats.org/drawingml/2006/main">
            <a:off x="647700" y="342900"/>
            <a:ext cx="533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D5ED64"/>
                </a:solidFill>
                <a:latin typeface="Liberation Sans"/>
                <a:ea typeface="Liberation Sans"/>
                <a:cs typeface="Liberation Sans"/>
              </a:defRPr>
            </a:pPr>
            <a:r>
              <a:rPr sz="1275" b="1">
                <a:solidFill>
                  <a:srgbClr val="D5ED64"/>
                </a:solidFill>
                <a:latin typeface="Liberation Sans"/>
                <a:ea typeface="Liberation Sans"/>
                <a:cs typeface="Liberation Sans"/>
              </a:rPr>
              <a:t>GROUNDPROOF</a:t>
            </a:r>
          </a:p>
        </p:txBody>
      </p:sp>
      <p:sp>
        <p:nvSpPr>
          <p:cNvPr id="2" name="">
            <a:extLst xmlns:a="http://schemas.openxmlformats.org/drawingml/2006/main">
              <a:ext uri="{FF2B5EF4-FFF2-40B4-BE49-F238E27FC236}">
                <a16:creationId xmlns:a16="http://schemas.microsoft.com/office/drawing/2014/main" id="{0B3CCCDD-B438-44E5-B2D7-59DCA7B1A3B6}"/>
              </a:ext>
            </a:extLst>
          </p:cNvPr>
          <p:cNvSpPr>
            <a:spLocks xmlns:a="http://schemas.openxmlformats.org/drawingml/2006/main" noGrp="1"/>
          </p:cNvSpPr>
          <p:nvPr/>
        </p:nvSpPr>
        <p:spPr>
          <a:xfrm xmlns:a="http://schemas.openxmlformats.org/drawingml/2006/main">
            <a:off x="10906125" y="6334125"/>
            <a:ext cx="590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ADC1B9"/>
                </a:solidFill>
                <a:latin typeface="Liberation Sans"/>
                <a:ea typeface="Liberation Sans"/>
                <a:cs typeface="Liberation Sans"/>
              </a:defRPr>
            </a:pPr>
            <a:r>
              <a:rPr sz="1200" b="0">
                <a:solidFill>
                  <a:srgbClr val="ADC1B9"/>
                </a:solidFill>
                <a:latin typeface="Liberation Sans"/>
                <a:ea typeface="Liberation Sans"/>
                <a:cs typeface="Liberation Sans"/>
              </a:rPr>
              <a:t>01</a:t>
            </a:r>
          </a:p>
        </p:txBody>
      </p:sp>
      <p:sp>
        <p:nvSpPr>
          <p:cNvPr id="3" name="">
            <a:extLst xmlns:a="http://schemas.openxmlformats.org/drawingml/2006/main">
              <a:ext uri="{FF2B5EF4-FFF2-40B4-BE49-F238E27FC236}">
                <a16:creationId xmlns:a16="http://schemas.microsoft.com/office/drawing/2014/main" id="{33A4BEAD-73CE-4F21-842F-EFA4514A364D}"/>
              </a:ext>
            </a:extLst>
          </p:cNvPr>
          <p:cNvSpPr>
            <a:spLocks xmlns:a="http://schemas.openxmlformats.org/drawingml/2006/main" noGrp="1"/>
          </p:cNvSpPr>
          <p:nvPr/>
        </p:nvSpPr>
        <p:spPr>
          <a:xfrm xmlns:a="http://schemas.openxmlformats.org/drawingml/2006/main">
            <a:off x="647700" y="1657350"/>
            <a:ext cx="10572750"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700" b="1">
                <a:solidFill>
                  <a:srgbClr val="FFFFFF"/>
                </a:solidFill>
                <a:latin typeface="Liberation Sans"/>
                <a:ea typeface="Liberation Sans"/>
                <a:cs typeface="Liberation Sans"/>
              </a:defRPr>
            </a:pPr>
            <a:r>
              <a:rPr sz="5700" b="1">
                <a:solidFill>
                  <a:srgbClr val="FFFFFF"/>
                </a:solidFill>
                <a:latin typeface="Liberation Sans"/>
                <a:ea typeface="Liberation Sans"/>
                <a:cs typeface="Liberation Sans"/>
              </a:rPr>
              <a:t>Yesterday’s approval.</a:t>
            </a:r>
          </a:p>
          <a:p xmlns:a="http://schemas.openxmlformats.org/drawingml/2006/main">
            <a:pPr>
              <a:defRPr sz="5700" b="1">
                <a:solidFill>
                  <a:srgbClr val="FFFFFF"/>
                </a:solidFill>
                <a:latin typeface="Liberation Sans"/>
                <a:ea typeface="Liberation Sans"/>
                <a:cs typeface="Liberation Sans"/>
              </a:defRPr>
            </a:pPr>
            <a:r>
              <a:rPr sz="5700" b="1">
                <a:solidFill>
                  <a:srgbClr val="FFFFFF"/>
                </a:solidFill>
                <a:latin typeface="Liberation Sans"/>
                <a:ea typeface="Liberation Sans"/>
                <a:cs typeface="Liberation Sans"/>
              </a:rPr>
              <a:t>Today’s evidence.</a:t>
            </a:r>
          </a:p>
        </p:txBody>
      </p:sp>
      <p:sp>
        <p:nvSpPr>
          <p:cNvPr id="4" name="">
            <a:extLst xmlns:a="http://schemas.openxmlformats.org/drawingml/2006/main">
              <a:ext uri="{FF2B5EF4-FFF2-40B4-BE49-F238E27FC236}">
                <a16:creationId xmlns:a16="http://schemas.microsoft.com/office/drawing/2014/main" id="{ABF9D91B-6AE4-420B-AF94-D3890CC59B1D}"/>
              </a:ext>
            </a:extLst>
          </p:cNvPr>
          <p:cNvSpPr>
            <a:spLocks xmlns:a="http://schemas.openxmlformats.org/drawingml/2006/main" noGrp="1"/>
          </p:cNvSpPr>
          <p:nvPr/>
        </p:nvSpPr>
        <p:spPr>
          <a:xfrm xmlns:a="http://schemas.openxmlformats.org/drawingml/2006/main">
            <a:off x="685800" y="4105275"/>
            <a:ext cx="10382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BED0C8"/>
                </a:solidFill>
                <a:latin typeface="Liberation Sans"/>
                <a:ea typeface="Liberation Sans"/>
                <a:cs typeface="Liberation Sans"/>
              </a:defRPr>
            </a:pPr>
            <a:r>
              <a:rPr sz="2400" b="0">
                <a:solidFill>
                  <a:srgbClr val="BED0C8"/>
                </a:solidFill>
                <a:latin typeface="Liberation Sans"/>
                <a:ea typeface="Liberation Sans"/>
                <a:cs typeface="Liberation Sans"/>
              </a:rPr>
              <a:t>Operational evidence for drone inspection coordinators</a:t>
            </a:r>
          </a:p>
        </p:txBody>
      </p:sp>
      <p:sp>
        <p:nvSpPr>
          <p:cNvPr id="5" name="">
            <a:extLst xmlns:a="http://schemas.openxmlformats.org/drawingml/2006/main">
              <a:ext uri="{FF2B5EF4-FFF2-40B4-BE49-F238E27FC236}">
                <a16:creationId xmlns:a16="http://schemas.microsoft.com/office/drawing/2014/main" id="{49FDE779-2C80-4F8E-8A94-82DD63E56225}"/>
              </a:ext>
            </a:extLst>
          </p:cNvPr>
          <p:cNvSpPr>
            <a:spLocks xmlns:a="http://schemas.openxmlformats.org/drawingml/2006/main" noGrp="1"/>
          </p:cNvSpPr>
          <p:nvPr/>
        </p:nvSpPr>
        <p:spPr>
          <a:xfrm xmlns:a="http://schemas.openxmlformats.org/drawingml/2006/main">
            <a:off x="685800" y="5619750"/>
            <a:ext cx="5048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D5ED64"/>
                </a:solidFill>
                <a:latin typeface="Liberation Sans"/>
                <a:ea typeface="Liberation Sans"/>
                <a:cs typeface="Liberation Sans"/>
              </a:defRPr>
            </a:pPr>
            <a:r>
              <a:rPr sz="2025" b="1">
                <a:solidFill>
                  <a:srgbClr val="D5ED64"/>
                </a:solidFill>
                <a:latin typeface="Liberation Sans"/>
                <a:ea typeface="Liberation Sans"/>
                <a:cs typeface="Liberation Sans"/>
              </a:rPr>
              <a:t>Shivam Gupta</a:t>
            </a:r>
          </a:p>
        </p:txBody>
      </p:sp>
      <p:sp>
        <p:nvSpPr>
          <p:cNvPr id="6" name="">
            <a:extLst xmlns:a="http://schemas.openxmlformats.org/drawingml/2006/main">
              <a:ext uri="{FF2B5EF4-FFF2-40B4-BE49-F238E27FC236}">
                <a16:creationId xmlns:a16="http://schemas.microsoft.com/office/drawing/2014/main" id="{C37B5FD9-A3D4-412E-85DD-D27F0082C82B}"/>
              </a:ext>
            </a:extLst>
          </p:cNvPr>
          <p:cNvSpPr>
            <a:spLocks xmlns:a="http://schemas.openxmlformats.org/drawingml/2006/main" noGrp="1"/>
          </p:cNvSpPr>
          <p:nvPr/>
        </p:nvSpPr>
        <p:spPr>
          <a:xfrm xmlns:a="http://schemas.openxmlformats.org/drawingml/2006/main">
            <a:off x="685800" y="601980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BED0C8"/>
                </a:solidFill>
                <a:latin typeface="Liberation Sans"/>
                <a:ea typeface="Liberation Sans"/>
                <a:cs typeface="Liberation Sans"/>
              </a:defRPr>
            </a:pPr>
            <a:r>
              <a:rPr sz="1500" b="0">
                <a:solidFill>
                  <a:srgbClr val="BED0C8"/>
                </a:solidFill>
                <a:latin typeface="Liberation Sans"/>
                <a:ea typeface="Liberation Sans"/>
                <a:cs typeface="Liberation Sans"/>
              </a:rPr>
              <a:t>PROOF Aviation Futures Challenge 2026</a:t>
            </a:r>
          </a:p>
        </p:txBody>
      </p:sp>
    </p:spTree>
    <p:extLst>
      <p:ext uri="{BB962C8B-B14F-4D97-AF65-F5344CB8AC3E}">
        <p14:creationId xmlns:p14="http://schemas.microsoft.com/office/powerpoint/2010/main" val="1977036076"/>
      </p:ext>
    </p:extLst>
  </p:cSld>
</p:sld>
</file>

<file path=ppt/slides/slide2.xml><?xml version="1.0" encoding="utf-8"?>
<p:sld xmlns:p="http://schemas.openxmlformats.org/presentationml/2006/main">
  <p:cSld>
    <p:bg>
      <p:bgPr>
        <a:solidFill xmlns:a="http://schemas.openxmlformats.org/drawingml/2006/main">
          <a:srgbClr val="F4F4E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DD48451-FF0B-4016-B92D-D80DEC940063}"/>
              </a:ext>
            </a:extLst>
          </p:cNvPr>
          <p:cNvSpPr>
            <a:spLocks xmlns:a="http://schemas.openxmlformats.org/drawingml/2006/main" noGrp="1"/>
          </p:cNvSpPr>
          <p:nvPr/>
        </p:nvSpPr>
        <p:spPr>
          <a:xfrm xmlns:a="http://schemas.openxmlformats.org/drawingml/2006/main">
            <a:off x="647700" y="342900"/>
            <a:ext cx="533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08694F"/>
                </a:solidFill>
                <a:latin typeface="Liberation Sans"/>
                <a:ea typeface="Liberation Sans"/>
                <a:cs typeface="Liberation Sans"/>
              </a:defRPr>
            </a:pPr>
            <a:r>
              <a:rPr sz="1275" b="1">
                <a:solidFill>
                  <a:srgbClr val="08694F"/>
                </a:solidFill>
                <a:latin typeface="Liberation Sans"/>
                <a:ea typeface="Liberation Sans"/>
                <a:cs typeface="Liberation Sans"/>
              </a:rPr>
              <a:t>GROUNDPROOF</a:t>
            </a:r>
          </a:p>
        </p:txBody>
      </p:sp>
      <p:sp>
        <p:nvSpPr>
          <p:cNvPr id="2" name="">
            <a:extLst xmlns:a="http://schemas.openxmlformats.org/drawingml/2006/main">
              <a:ext uri="{FF2B5EF4-FFF2-40B4-BE49-F238E27FC236}">
                <a16:creationId xmlns:a16="http://schemas.microsoft.com/office/drawing/2014/main" id="{20810F2C-7211-470B-BA5A-343700B8FDC0}"/>
              </a:ext>
            </a:extLst>
          </p:cNvPr>
          <p:cNvSpPr>
            <a:spLocks xmlns:a="http://schemas.openxmlformats.org/drawingml/2006/main" noGrp="1"/>
          </p:cNvSpPr>
          <p:nvPr/>
        </p:nvSpPr>
        <p:spPr>
          <a:xfrm xmlns:a="http://schemas.openxmlformats.org/drawingml/2006/main">
            <a:off x="647700" y="942975"/>
            <a:ext cx="108966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42C29"/>
                </a:solidFill>
                <a:latin typeface="Liberation Sans"/>
                <a:ea typeface="Liberation Sans"/>
                <a:cs typeface="Liberation Sans"/>
              </a:defRPr>
            </a:pPr>
            <a:r>
              <a:rPr sz="3600" b="1">
                <a:solidFill>
                  <a:srgbClr val="142C29"/>
                </a:solidFill>
                <a:latin typeface="Liberation Sans"/>
                <a:ea typeface="Liberation Sans"/>
                <a:cs typeface="Liberation Sans"/>
              </a:rPr>
              <a:t>An approval depends on facts that can change</a:t>
            </a:r>
          </a:p>
        </p:txBody>
      </p:sp>
      <p:sp>
        <p:nvSpPr>
          <p:cNvPr id="3" name="">
            <a:extLst xmlns:a="http://schemas.openxmlformats.org/drawingml/2006/main">
              <a:ext uri="{FF2B5EF4-FFF2-40B4-BE49-F238E27FC236}">
                <a16:creationId xmlns:a16="http://schemas.microsoft.com/office/drawing/2014/main" id="{48203CB4-CD36-457E-AD81-B2F67D74FA76}"/>
              </a:ext>
            </a:extLst>
          </p:cNvPr>
          <p:cNvSpPr>
            <a:spLocks xmlns:a="http://schemas.openxmlformats.org/drawingml/2006/main" noGrp="1"/>
          </p:cNvSpPr>
          <p:nvPr/>
        </p:nvSpPr>
        <p:spPr>
          <a:xfrm xmlns:a="http://schemas.openxmlformats.org/drawingml/2006/main">
            <a:off x="10906125" y="6334125"/>
            <a:ext cx="590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F716B"/>
                </a:solidFill>
                <a:latin typeface="Liberation Sans"/>
                <a:ea typeface="Liberation Sans"/>
                <a:cs typeface="Liberation Sans"/>
              </a:defRPr>
            </a:pPr>
            <a:r>
              <a:rPr sz="1200" b="0">
                <a:solidFill>
                  <a:srgbClr val="5F716B"/>
                </a:solidFill>
                <a:latin typeface="Liberation Sans"/>
                <a:ea typeface="Liberation Sans"/>
                <a:cs typeface="Liberation Sans"/>
              </a:rPr>
              <a:t>02</a:t>
            </a:r>
          </a:p>
        </p:txBody>
      </p:sp>
      <p:sp>
        <p:nvSpPr>
          <p:cNvPr id="4" name="">
            <a:extLst xmlns:a="http://schemas.openxmlformats.org/drawingml/2006/main">
              <a:ext uri="{FF2B5EF4-FFF2-40B4-BE49-F238E27FC236}">
                <a16:creationId xmlns:a16="http://schemas.microsoft.com/office/drawing/2014/main" id="{2EEFD10B-A57F-4048-AF45-E56FB72DF69E}"/>
              </a:ext>
            </a:extLst>
          </p:cNvPr>
          <p:cNvSpPr>
            <a:spLocks xmlns:a="http://schemas.openxmlformats.org/drawingml/2006/main" noGrp="1"/>
          </p:cNvSpPr>
          <p:nvPr/>
        </p:nvSpPr>
        <p:spPr>
          <a:xfrm xmlns:a="http://schemas.openxmlformats.org/drawingml/2006/main">
            <a:off x="647700" y="2333625"/>
            <a:ext cx="24765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650" b="1">
                <a:solidFill>
                  <a:srgbClr val="08694F"/>
                </a:solidFill>
                <a:latin typeface="Liberation Sans"/>
                <a:ea typeface="Liberation Sans"/>
                <a:cs typeface="Liberation Sans"/>
              </a:defRPr>
            </a:pPr>
            <a:r>
              <a:rPr sz="4650" b="1">
                <a:solidFill>
                  <a:srgbClr val="08694F"/>
                </a:solidFill>
                <a:latin typeface="Liberation Sans"/>
                <a:ea typeface="Liberation Sans"/>
                <a:cs typeface="Liberation Sans"/>
              </a:rPr>
              <a:t>08:00</a:t>
            </a:r>
          </a:p>
        </p:txBody>
      </p:sp>
      <p:sp>
        <p:nvSpPr>
          <p:cNvPr id="5" name="">
            <a:extLst xmlns:a="http://schemas.openxmlformats.org/drawingml/2006/main">
              <a:ext uri="{FF2B5EF4-FFF2-40B4-BE49-F238E27FC236}">
                <a16:creationId xmlns:a16="http://schemas.microsoft.com/office/drawing/2014/main" id="{A9F71F8E-194C-4297-8953-9439D7F23389}"/>
              </a:ext>
            </a:extLst>
          </p:cNvPr>
          <p:cNvSpPr>
            <a:spLocks xmlns:a="http://schemas.openxmlformats.org/drawingml/2006/main" noGrp="1"/>
          </p:cNvSpPr>
          <p:nvPr/>
        </p:nvSpPr>
        <p:spPr>
          <a:xfrm xmlns:a="http://schemas.openxmlformats.org/drawingml/2006/main">
            <a:off x="647700" y="3248025"/>
            <a:ext cx="3086100" cy="1247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42C29"/>
                </a:solidFill>
                <a:latin typeface="Liberation Sans"/>
                <a:ea typeface="Liberation Sans"/>
                <a:cs typeface="Liberation Sans"/>
              </a:defRPr>
            </a:pPr>
            <a:r>
              <a:rPr sz="2175" b="0">
                <a:solidFill>
                  <a:srgbClr val="142C29"/>
                </a:solidFill>
                <a:latin typeface="Liberation Sans"/>
                <a:ea typeface="Liberation Sans"/>
                <a:cs typeface="Liberation Sans"/>
              </a:rPr>
              <a:t>The coordinator approves tomorrow’s inspection.</a:t>
            </a:r>
          </a:p>
        </p:txBody>
      </p:sp>
      <p:sp>
        <p:nvSpPr>
          <p:cNvPr id="6" name="">
            <a:extLst xmlns:a="http://schemas.openxmlformats.org/drawingml/2006/main">
              <a:ext uri="{FF2B5EF4-FFF2-40B4-BE49-F238E27FC236}">
                <a16:creationId xmlns:a16="http://schemas.microsoft.com/office/drawing/2014/main" id="{B7E9827F-8A5F-42EF-893A-2F3552F9E936}"/>
              </a:ext>
            </a:extLst>
          </p:cNvPr>
          <p:cNvSpPr>
            <a:spLocks xmlns:a="http://schemas.openxmlformats.org/drawingml/2006/main" noGrp="1"/>
          </p:cNvSpPr>
          <p:nvPr/>
        </p:nvSpPr>
        <p:spPr>
          <a:xfrm xmlns:a="http://schemas.openxmlformats.org/drawingml/2006/main">
            <a:off x="4476750" y="2333625"/>
            <a:ext cx="24765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650" b="1">
                <a:solidFill>
                  <a:srgbClr val="08694F"/>
                </a:solidFill>
                <a:latin typeface="Liberation Sans"/>
                <a:ea typeface="Liberation Sans"/>
                <a:cs typeface="Liberation Sans"/>
              </a:defRPr>
            </a:pPr>
            <a:r>
              <a:rPr sz="4650" b="1">
                <a:solidFill>
                  <a:srgbClr val="08694F"/>
                </a:solidFill>
                <a:latin typeface="Liberation Sans"/>
                <a:ea typeface="Liberation Sans"/>
                <a:cs typeface="Liberation Sans"/>
              </a:rPr>
              <a:t>16:30</a:t>
            </a:r>
          </a:p>
        </p:txBody>
      </p:sp>
      <p:sp>
        <p:nvSpPr>
          <p:cNvPr id="7" name="">
            <a:extLst xmlns:a="http://schemas.openxmlformats.org/drawingml/2006/main">
              <a:ext uri="{FF2B5EF4-FFF2-40B4-BE49-F238E27FC236}">
                <a16:creationId xmlns:a16="http://schemas.microsoft.com/office/drawing/2014/main" id="{FE5795FD-C0A9-490A-99A3-2D55C907A448}"/>
              </a:ext>
            </a:extLst>
          </p:cNvPr>
          <p:cNvSpPr>
            <a:spLocks xmlns:a="http://schemas.openxmlformats.org/drawingml/2006/main" noGrp="1"/>
          </p:cNvSpPr>
          <p:nvPr/>
        </p:nvSpPr>
        <p:spPr>
          <a:xfrm xmlns:a="http://schemas.openxmlformats.org/drawingml/2006/main">
            <a:off x="4476750" y="3248025"/>
            <a:ext cx="3048000" cy="1247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42C29"/>
                </a:solidFill>
                <a:latin typeface="Liberation Sans"/>
                <a:ea typeface="Liberation Sans"/>
                <a:cs typeface="Liberation Sans"/>
              </a:defRPr>
            </a:pPr>
            <a:r>
              <a:rPr sz="2175" b="0">
                <a:solidFill>
                  <a:srgbClr val="142C29"/>
                </a:solidFill>
                <a:latin typeface="Liberation Sans"/>
                <a:ea typeface="Liberation Sans"/>
                <a:cs typeface="Liberation Sans"/>
              </a:rPr>
              <a:t>The site owner changes access conditions.</a:t>
            </a:r>
          </a:p>
        </p:txBody>
      </p:sp>
      <p:sp>
        <p:nvSpPr>
          <p:cNvPr id="8" name="">
            <a:extLst xmlns:a="http://schemas.openxmlformats.org/drawingml/2006/main">
              <a:ext uri="{FF2B5EF4-FFF2-40B4-BE49-F238E27FC236}">
                <a16:creationId xmlns:a16="http://schemas.microsoft.com/office/drawing/2014/main" id="{3476B36B-95D5-4150-A089-DF6BE77E2430}"/>
              </a:ext>
            </a:extLst>
          </p:cNvPr>
          <p:cNvSpPr>
            <a:spLocks xmlns:a="http://schemas.openxmlformats.org/drawingml/2006/main" noGrp="1"/>
          </p:cNvSpPr>
          <p:nvPr/>
        </p:nvSpPr>
        <p:spPr>
          <a:xfrm xmlns:a="http://schemas.openxmlformats.org/drawingml/2006/main">
            <a:off x="8286750" y="2333625"/>
            <a:ext cx="32385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650" b="1">
                <a:solidFill>
                  <a:srgbClr val="A5452D"/>
                </a:solidFill>
                <a:latin typeface="Liberation Sans"/>
                <a:ea typeface="Liberation Sans"/>
                <a:cs typeface="Liberation Sans"/>
              </a:defRPr>
            </a:pPr>
            <a:r>
              <a:rPr sz="4650" b="1">
                <a:solidFill>
                  <a:srgbClr val="A5452D"/>
                </a:solidFill>
                <a:latin typeface="Liberation Sans"/>
                <a:ea typeface="Liberation Sans"/>
                <a:cs typeface="Liberation Sans"/>
              </a:rPr>
              <a:t>Tomorrow</a:t>
            </a:r>
          </a:p>
        </p:txBody>
      </p:sp>
      <p:sp>
        <p:nvSpPr>
          <p:cNvPr id="9" name="">
            <a:extLst xmlns:a="http://schemas.openxmlformats.org/drawingml/2006/main">
              <a:ext uri="{FF2B5EF4-FFF2-40B4-BE49-F238E27FC236}">
                <a16:creationId xmlns:a16="http://schemas.microsoft.com/office/drawing/2014/main" id="{EC60DAF4-D2AB-45FE-958C-F8393848CECC}"/>
              </a:ext>
            </a:extLst>
          </p:cNvPr>
          <p:cNvSpPr>
            <a:spLocks xmlns:a="http://schemas.openxmlformats.org/drawingml/2006/main" noGrp="1"/>
          </p:cNvSpPr>
          <p:nvPr/>
        </p:nvSpPr>
        <p:spPr>
          <a:xfrm xmlns:a="http://schemas.openxmlformats.org/drawingml/2006/main">
            <a:off x="8286750" y="3248025"/>
            <a:ext cx="3238500"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42C29"/>
                </a:solidFill>
                <a:latin typeface="Liberation Sans"/>
                <a:ea typeface="Liberation Sans"/>
                <a:cs typeface="Liberation Sans"/>
              </a:defRPr>
            </a:pPr>
            <a:r>
              <a:rPr sz="2175" b="0">
                <a:solidFill>
                  <a:srgbClr val="142C29"/>
                </a:solidFill>
                <a:latin typeface="Liberation Sans"/>
                <a:ea typeface="Liberation Sans"/>
                <a:cs typeface="Liberation Sans"/>
              </a:rPr>
              <a:t>Which approved jobs now need another decision?</a:t>
            </a:r>
          </a:p>
        </p:txBody>
      </p:sp>
      <p:sp>
        <p:nvSpPr>
          <p:cNvPr id="10" name="">
            <a:extLst xmlns:a="http://schemas.openxmlformats.org/drawingml/2006/main">
              <a:ext uri="{FF2B5EF4-FFF2-40B4-BE49-F238E27FC236}">
                <a16:creationId xmlns:a16="http://schemas.microsoft.com/office/drawing/2014/main" id="{F6088C4A-9496-4C1E-8E8E-59009160BE53}"/>
              </a:ext>
            </a:extLst>
          </p:cNvPr>
          <p:cNvSpPr>
            <a:spLocks xmlns:a="http://schemas.openxmlformats.org/drawingml/2006/main" noGrp="1"/>
          </p:cNvSpPr>
          <p:nvPr/>
        </p:nvSpPr>
        <p:spPr>
          <a:xfrm xmlns:a="http://schemas.openxmlformats.org/drawingml/2006/main">
            <a:off x="647700" y="5686425"/>
            <a:ext cx="10763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F716B"/>
                </a:solidFill>
                <a:latin typeface="Liberation Sans"/>
                <a:ea typeface="Liberation Sans"/>
                <a:cs typeface="Liberation Sans"/>
              </a:defRPr>
            </a:pPr>
            <a:r>
              <a:rPr sz="1650" b="0">
                <a:solidFill>
                  <a:srgbClr val="5F716B"/>
                </a:solidFill>
                <a:latin typeface="Liberation Sans"/>
                <a:ea typeface="Liberation Sans"/>
                <a:cs typeface="Liberation Sans"/>
              </a:rPr>
              <a:t>Illustrative scenario. Frequency and cost still need operator validation.</a:t>
            </a:r>
          </a:p>
        </p:txBody>
      </p:sp>
    </p:spTree>
    <p:extLst>
      <p:ext uri="{BB962C8B-B14F-4D97-AF65-F5344CB8AC3E}">
        <p14:creationId xmlns:p14="http://schemas.microsoft.com/office/powerpoint/2010/main" val="1521142341"/>
      </p:ext>
    </p:extLst>
  </p:cSld>
</p:sld>
</file>

<file path=ppt/slides/slide3.xml><?xml version="1.0" encoding="utf-8"?>
<p:sld xmlns:p="http://schemas.openxmlformats.org/presentationml/2006/main">
  <p:cSld>
    <p:bg>
      <p:bgPr>
        <a:solidFill xmlns:a="http://schemas.openxmlformats.org/drawingml/2006/main">
          <a:srgbClr val="F4F4EB"/>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BB4183F-BBD3-4289-9C4A-679139D7D43B}"/>
              </a:ext>
            </a:extLst>
          </p:cNvPr>
          <p:cNvSpPr>
            <a:spLocks xmlns:a="http://schemas.openxmlformats.org/drawingml/2006/main" noGrp="1"/>
          </p:cNvSpPr>
          <p:nvPr/>
        </p:nvSpPr>
        <p:spPr>
          <a:xfrm xmlns:a="http://schemas.openxmlformats.org/drawingml/2006/main">
            <a:off x="647700" y="342900"/>
            <a:ext cx="533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08694F"/>
                </a:solidFill>
                <a:latin typeface="Liberation Sans"/>
                <a:ea typeface="Liberation Sans"/>
                <a:cs typeface="Liberation Sans"/>
              </a:defRPr>
            </a:pPr>
            <a:r>
              <a:rPr sz="1275" b="1">
                <a:solidFill>
                  <a:srgbClr val="08694F"/>
                </a:solidFill>
                <a:latin typeface="Liberation Sans"/>
                <a:ea typeface="Liberation Sans"/>
                <a:cs typeface="Liberation Sans"/>
              </a:rPr>
              <a:t>GROUNDPROOF</a:t>
            </a:r>
          </a:p>
        </p:txBody>
      </p:sp>
      <p:sp>
        <p:nvSpPr>
          <p:cNvPr id="2" name="">
            <a:extLst xmlns:a="http://schemas.openxmlformats.org/drawingml/2006/main">
              <a:ext uri="{FF2B5EF4-FFF2-40B4-BE49-F238E27FC236}">
                <a16:creationId xmlns:a16="http://schemas.microsoft.com/office/drawing/2014/main" id="{22EC8359-718A-4638-8247-23B99D84614C}"/>
              </a:ext>
            </a:extLst>
          </p:cNvPr>
          <p:cNvSpPr>
            <a:spLocks xmlns:a="http://schemas.openxmlformats.org/drawingml/2006/main" noGrp="1"/>
          </p:cNvSpPr>
          <p:nvPr/>
        </p:nvSpPr>
        <p:spPr>
          <a:xfrm xmlns:a="http://schemas.openxmlformats.org/drawingml/2006/main">
            <a:off x="647700" y="942975"/>
            <a:ext cx="108966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42C29"/>
                </a:solidFill>
                <a:latin typeface="Liberation Sans"/>
                <a:ea typeface="Liberation Sans"/>
                <a:cs typeface="Liberation Sans"/>
              </a:defRPr>
            </a:pPr>
            <a:r>
              <a:rPr sz="3600" b="1">
                <a:solidFill>
                  <a:srgbClr val="142C29"/>
                </a:solidFill>
                <a:latin typeface="Liberation Sans"/>
                <a:ea typeface="Liberation Sans"/>
                <a:cs typeface="Liberation Sans"/>
              </a:rPr>
              <a:t>Every job has an evidence trail</a:t>
            </a:r>
          </a:p>
        </p:txBody>
      </p:sp>
      <p:sp>
        <p:nvSpPr>
          <p:cNvPr id="3" name="">
            <a:extLst xmlns:a="http://schemas.openxmlformats.org/drawingml/2006/main">
              <a:ext uri="{FF2B5EF4-FFF2-40B4-BE49-F238E27FC236}">
                <a16:creationId xmlns:a16="http://schemas.microsoft.com/office/drawing/2014/main" id="{A73307A3-A078-4A11-8AF5-3B4B968DD6FA}"/>
              </a:ext>
            </a:extLst>
          </p:cNvPr>
          <p:cNvSpPr>
            <a:spLocks xmlns:a="http://schemas.openxmlformats.org/drawingml/2006/main" noGrp="1"/>
          </p:cNvSpPr>
          <p:nvPr/>
        </p:nvSpPr>
        <p:spPr>
          <a:xfrm xmlns:a="http://schemas.openxmlformats.org/drawingml/2006/main">
            <a:off x="10906125" y="6334125"/>
            <a:ext cx="590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F716B"/>
                </a:solidFill>
                <a:latin typeface="Liberation Sans"/>
                <a:ea typeface="Liberation Sans"/>
                <a:cs typeface="Liberation Sans"/>
              </a:defRPr>
            </a:pPr>
            <a:r>
              <a:rPr sz="1200" b="0">
                <a:solidFill>
                  <a:srgbClr val="5F716B"/>
                </a:solidFill>
                <a:latin typeface="Liberation Sans"/>
                <a:ea typeface="Liberation Sans"/>
                <a:cs typeface="Liberation Sans"/>
              </a:rPr>
              <a:t>03</a:t>
            </a:r>
          </a:p>
        </p:txBody>
      </p:sp>
      <p:sp>
        <p:nvSpPr>
          <p:cNvPr id="4" name="">
            <a:extLst xmlns:a="http://schemas.openxmlformats.org/drawingml/2006/main">
              <a:ext uri="{FF2B5EF4-FFF2-40B4-BE49-F238E27FC236}">
                <a16:creationId xmlns:a16="http://schemas.microsoft.com/office/drawing/2014/main" id="{57D2AC5A-D5E1-472F-A106-8EEF5B50A8E3}"/>
              </a:ext>
            </a:extLst>
          </p:cNvPr>
          <p:cNvSpPr>
            <a:spLocks xmlns:a="http://schemas.openxmlformats.org/drawingml/2006/main" noGrp="1"/>
          </p:cNvSpPr>
          <p:nvPr/>
        </p:nvSpPr>
        <p:spPr>
          <a:xfrm xmlns:a="http://schemas.openxmlformats.org/drawingml/2006/main">
            <a:off x="647700" y="2333625"/>
            <a:ext cx="3524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08694F"/>
                </a:solidFill>
                <a:latin typeface="Liberation Sans"/>
                <a:ea typeface="Liberation Sans"/>
                <a:cs typeface="Liberation Sans"/>
              </a:defRPr>
            </a:pPr>
            <a:r>
              <a:rPr sz="2850" b="1">
                <a:solidFill>
                  <a:srgbClr val="08694F"/>
                </a:solidFill>
                <a:latin typeface="Liberation Sans"/>
                <a:ea typeface="Liberation Sans"/>
                <a:cs typeface="Liberation Sans"/>
              </a:rPr>
              <a:t>One source can affect</a:t>
            </a:r>
          </a:p>
          <a:p xmlns:a="http://schemas.openxmlformats.org/drawingml/2006/main">
            <a:pPr>
              <a:defRPr sz="2850" b="1">
                <a:solidFill>
                  <a:srgbClr val="08694F"/>
                </a:solidFill>
                <a:latin typeface="Liberation Sans"/>
                <a:ea typeface="Liberation Sans"/>
                <a:cs typeface="Liberation Sans"/>
              </a:defRPr>
            </a:pPr>
            <a:r>
              <a:rPr sz="2850" b="1">
                <a:solidFill>
                  <a:srgbClr val="08694F"/>
                </a:solidFill>
                <a:latin typeface="Liberation Sans"/>
                <a:ea typeface="Liberation Sans"/>
                <a:cs typeface="Liberation Sans"/>
              </a:rPr>
              <a:t>several jobs.</a:t>
            </a:r>
          </a:p>
        </p:txBody>
      </p:sp>
      <p:sp>
        <p:nvSpPr>
          <p:cNvPr id="5" name="">
            <a:extLst xmlns:a="http://schemas.openxmlformats.org/drawingml/2006/main">
              <a:ext uri="{FF2B5EF4-FFF2-40B4-BE49-F238E27FC236}">
                <a16:creationId xmlns:a16="http://schemas.microsoft.com/office/drawing/2014/main" id="{13DA4B32-9C12-429B-BA63-C00FE3582C0D}"/>
              </a:ext>
            </a:extLst>
          </p:cNvPr>
          <p:cNvSpPr>
            <a:spLocks xmlns:a="http://schemas.openxmlformats.org/drawingml/2006/main" noGrp="1"/>
          </p:cNvSpPr>
          <p:nvPr/>
        </p:nvSpPr>
        <p:spPr>
          <a:xfrm xmlns:a="http://schemas.openxmlformats.org/drawingml/2006/main">
            <a:off x="647700" y="3800475"/>
            <a:ext cx="3457575" cy="1495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42C29"/>
                </a:solidFill>
                <a:latin typeface="Liberation Sans"/>
                <a:ea typeface="Liberation Sans"/>
                <a:cs typeface="Liberation Sans"/>
              </a:defRPr>
            </a:pPr>
            <a:r>
              <a:rPr sz="2025" b="0">
                <a:solidFill>
                  <a:srgbClr val="142C29"/>
                </a:solidFill>
                <a:latin typeface="Liberation Sans"/>
                <a:ea typeface="Liberation Sans"/>
                <a:cs typeface="Liberation Sans"/>
              </a:rPr>
              <a:t>GroundProof connects each internal approval to the source versions its reviewer accepted.</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36605b292048442d"/>
          <a:stretch xmlns:a="http://schemas.openxmlformats.org/drawingml/2006/main"/>
        </p:blipFill>
        <p:spPr>
          <a:xfrm xmlns:a="http://schemas.openxmlformats.org/drawingml/2006/main">
            <a:off x="5006721" y="2009775"/>
            <a:ext cx="6007608" cy="4171950"/>
          </a:xfrm>
          <a:prstGeom xmlns:a="http://schemas.openxmlformats.org/drawingml/2006/main" prst="rect">
            <a:avLst/>
          </a:prstGeom>
        </p:spPr>
      </p:pic>
    </p:spTree>
    <p:extLst>
      <p:ext uri="{BB962C8B-B14F-4D97-AF65-F5344CB8AC3E}">
        <p14:creationId xmlns:p14="http://schemas.microsoft.com/office/powerpoint/2010/main" val="189543240"/>
      </p:ext>
    </p:extLst>
  </p:cSld>
</p:sld>
</file>

<file path=ppt/slides/slide4.xml><?xml version="1.0" encoding="utf-8"?>
<p:sld xmlns:p="http://schemas.openxmlformats.org/presentationml/2006/main">
  <p:cSld>
    <p:bg>
      <p:bgPr>
        <a:solidFill xmlns:a="http://schemas.openxmlformats.org/drawingml/2006/main">
          <a:srgbClr val="F4F4EB"/>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ECEC30B-9F67-456C-BFD0-57E0F15AC8B4}"/>
              </a:ext>
            </a:extLst>
          </p:cNvPr>
          <p:cNvSpPr>
            <a:spLocks xmlns:a="http://schemas.openxmlformats.org/drawingml/2006/main" noGrp="1"/>
          </p:cNvSpPr>
          <p:nvPr/>
        </p:nvSpPr>
        <p:spPr>
          <a:xfrm xmlns:a="http://schemas.openxmlformats.org/drawingml/2006/main">
            <a:off x="647700" y="342900"/>
            <a:ext cx="533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08694F"/>
                </a:solidFill>
                <a:latin typeface="Liberation Sans"/>
                <a:ea typeface="Liberation Sans"/>
                <a:cs typeface="Liberation Sans"/>
              </a:defRPr>
            </a:pPr>
            <a:r>
              <a:rPr sz="1275" b="1">
                <a:solidFill>
                  <a:srgbClr val="08694F"/>
                </a:solidFill>
                <a:latin typeface="Liberation Sans"/>
                <a:ea typeface="Liberation Sans"/>
                <a:cs typeface="Liberation Sans"/>
              </a:rPr>
              <a:t>GROUNDPROOF</a:t>
            </a:r>
          </a:p>
        </p:txBody>
      </p:sp>
      <p:sp>
        <p:nvSpPr>
          <p:cNvPr id="2" name="">
            <a:extLst xmlns:a="http://schemas.openxmlformats.org/drawingml/2006/main">
              <a:ext uri="{FF2B5EF4-FFF2-40B4-BE49-F238E27FC236}">
                <a16:creationId xmlns:a16="http://schemas.microsoft.com/office/drawing/2014/main" id="{3BE10A16-BE39-4ECE-B662-7137E4772705}"/>
              </a:ext>
            </a:extLst>
          </p:cNvPr>
          <p:cNvSpPr>
            <a:spLocks xmlns:a="http://schemas.openxmlformats.org/drawingml/2006/main" noGrp="1"/>
          </p:cNvSpPr>
          <p:nvPr/>
        </p:nvSpPr>
        <p:spPr>
          <a:xfrm xmlns:a="http://schemas.openxmlformats.org/drawingml/2006/main">
            <a:off x="647700" y="942975"/>
            <a:ext cx="108966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42C29"/>
                </a:solidFill>
                <a:latin typeface="Liberation Sans"/>
                <a:ea typeface="Liberation Sans"/>
                <a:cs typeface="Liberation Sans"/>
              </a:defRPr>
            </a:pPr>
            <a:r>
              <a:rPr sz="3600" b="1">
                <a:solidFill>
                  <a:srgbClr val="142C29"/>
                </a:solidFill>
                <a:latin typeface="Liberation Sans"/>
                <a:ea typeface="Liberation Sans"/>
                <a:cs typeface="Liberation Sans"/>
              </a:rPr>
              <a:t>Changed evidence requires a fresh decision</a:t>
            </a:r>
          </a:p>
        </p:txBody>
      </p:sp>
      <p:sp>
        <p:nvSpPr>
          <p:cNvPr id="3" name="">
            <a:extLst xmlns:a="http://schemas.openxmlformats.org/drawingml/2006/main">
              <a:ext uri="{FF2B5EF4-FFF2-40B4-BE49-F238E27FC236}">
                <a16:creationId xmlns:a16="http://schemas.microsoft.com/office/drawing/2014/main" id="{35BBD62A-7B6C-4710-8B77-32B3A623D8C5}"/>
              </a:ext>
            </a:extLst>
          </p:cNvPr>
          <p:cNvSpPr>
            <a:spLocks xmlns:a="http://schemas.openxmlformats.org/drawingml/2006/main" noGrp="1"/>
          </p:cNvSpPr>
          <p:nvPr/>
        </p:nvSpPr>
        <p:spPr>
          <a:xfrm xmlns:a="http://schemas.openxmlformats.org/drawingml/2006/main">
            <a:off x="10906125" y="6334125"/>
            <a:ext cx="590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F716B"/>
                </a:solidFill>
                <a:latin typeface="Liberation Sans"/>
                <a:ea typeface="Liberation Sans"/>
                <a:cs typeface="Liberation Sans"/>
              </a:defRPr>
            </a:pPr>
            <a:r>
              <a:rPr sz="1200" b="0">
                <a:solidFill>
                  <a:srgbClr val="5F716B"/>
                </a:solidFill>
                <a:latin typeface="Liberation Sans"/>
                <a:ea typeface="Liberation Sans"/>
                <a:cs typeface="Liberation Sans"/>
              </a:rPr>
              <a:t>04</a:t>
            </a:r>
          </a:p>
        </p:txBody>
      </p:sp>
      <p:sp>
        <p:nvSpPr>
          <p:cNvPr id="4" name="">
            <a:extLst xmlns:a="http://schemas.openxmlformats.org/drawingml/2006/main">
              <a:ext uri="{FF2B5EF4-FFF2-40B4-BE49-F238E27FC236}">
                <a16:creationId xmlns:a16="http://schemas.microsoft.com/office/drawing/2014/main" id="{A62BB8DA-E362-40B4-87E6-8F06FCDDE1C6}"/>
              </a:ext>
            </a:extLst>
          </p:cNvPr>
          <p:cNvSpPr>
            <a:spLocks xmlns:a="http://schemas.openxmlformats.org/drawingml/2006/main" noGrp="1"/>
          </p:cNvSpPr>
          <p:nvPr/>
        </p:nvSpPr>
        <p:spPr>
          <a:xfrm xmlns:a="http://schemas.openxmlformats.org/drawingml/2006/main">
            <a:off x="647700" y="2381250"/>
            <a:ext cx="3619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025" b="1">
                <a:solidFill>
                  <a:srgbClr val="A5452D"/>
                </a:solidFill>
                <a:latin typeface="Liberation Sans"/>
                <a:ea typeface="Liberation Sans"/>
                <a:cs typeface="Liberation Sans"/>
              </a:defRPr>
            </a:pPr>
            <a:r>
              <a:rPr sz="5025" b="1">
                <a:solidFill>
                  <a:srgbClr val="A5452D"/>
                </a:solidFill>
                <a:latin typeface="Liberation Sans"/>
                <a:ea typeface="Liberation Sans"/>
                <a:cs typeface="Liberation Sans"/>
              </a:rPr>
              <a:t>3 jobs</a:t>
            </a:r>
          </a:p>
        </p:txBody>
      </p:sp>
      <p:sp>
        <p:nvSpPr>
          <p:cNvPr id="5" name="">
            <a:extLst xmlns:a="http://schemas.openxmlformats.org/drawingml/2006/main">
              <a:ext uri="{FF2B5EF4-FFF2-40B4-BE49-F238E27FC236}">
                <a16:creationId xmlns:a16="http://schemas.microsoft.com/office/drawing/2014/main" id="{15215F66-8F04-4B32-9340-16D1FF488D87}"/>
              </a:ext>
            </a:extLst>
          </p:cNvPr>
          <p:cNvSpPr>
            <a:spLocks xmlns:a="http://schemas.openxmlformats.org/drawingml/2006/main" noGrp="1"/>
          </p:cNvSpPr>
          <p:nvPr/>
        </p:nvSpPr>
        <p:spPr>
          <a:xfrm xmlns:a="http://schemas.openxmlformats.org/drawingml/2006/main">
            <a:off x="647700" y="3429000"/>
            <a:ext cx="35242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C29"/>
                </a:solidFill>
                <a:latin typeface="Liberation Sans"/>
                <a:ea typeface="Liberation Sans"/>
                <a:cs typeface="Liberation Sans"/>
              </a:defRPr>
            </a:pPr>
            <a:r>
              <a:rPr sz="2100" b="0">
                <a:solidFill>
                  <a:srgbClr val="142C29"/>
                </a:solidFill>
                <a:latin typeface="Liberation Sans"/>
                <a:ea typeface="Liberation Sans"/>
                <a:cs typeface="Liberation Sans"/>
              </a:rPr>
              <a:t>depend on the simulated</a:t>
            </a:r>
          </a:p>
          <a:p xmlns:a="http://schemas.openxmlformats.org/drawingml/2006/main">
            <a:pPr>
              <a:defRPr sz="2100" b="0">
                <a:solidFill>
                  <a:srgbClr val="142C29"/>
                </a:solidFill>
                <a:latin typeface="Liberation Sans"/>
                <a:ea typeface="Liberation Sans"/>
                <a:cs typeface="Liberation Sans"/>
              </a:defRPr>
            </a:pPr>
            <a:r>
              <a:rPr sz="2100" b="0">
                <a:solidFill>
                  <a:srgbClr val="142C29"/>
                </a:solidFill>
                <a:latin typeface="Liberation Sans"/>
                <a:ea typeface="Liberation Sans"/>
                <a:cs typeface="Liberation Sans"/>
              </a:rPr>
              <a:t>Harbor Works notice</a:t>
            </a:r>
          </a:p>
        </p:txBody>
      </p:sp>
      <p:sp>
        <p:nvSpPr>
          <p:cNvPr id="6" name="">
            <a:extLst xmlns:a="http://schemas.openxmlformats.org/drawingml/2006/main">
              <a:ext uri="{FF2B5EF4-FFF2-40B4-BE49-F238E27FC236}">
                <a16:creationId xmlns:a16="http://schemas.microsoft.com/office/drawing/2014/main" id="{47239876-FDBF-4355-BA11-72C95EA44B0C}"/>
              </a:ext>
            </a:extLst>
          </p:cNvPr>
          <p:cNvSpPr>
            <a:spLocks xmlns:a="http://schemas.openxmlformats.org/drawingml/2006/main" noGrp="1"/>
          </p:cNvSpPr>
          <p:nvPr/>
        </p:nvSpPr>
        <p:spPr>
          <a:xfrm xmlns:a="http://schemas.openxmlformats.org/drawingml/2006/main">
            <a:off x="647700" y="4781550"/>
            <a:ext cx="3619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C29"/>
                </a:solidFill>
                <a:latin typeface="Liberation Sans"/>
                <a:ea typeface="Liberation Sans"/>
                <a:cs typeface="Liberation Sans"/>
              </a:defRPr>
            </a:pPr>
            <a:r>
              <a:rPr sz="3300" b="1">
                <a:solidFill>
                  <a:srgbClr val="142C29"/>
                </a:solidFill>
                <a:latin typeface="Liberation Sans"/>
                <a:ea typeface="Liberation Sans"/>
                <a:cs typeface="Liberation Sans"/>
              </a:rPr>
              <a:t>$4,800</a:t>
            </a:r>
          </a:p>
        </p:txBody>
      </p:sp>
      <p:sp>
        <p:nvSpPr>
          <p:cNvPr id="7" name="">
            <a:extLst xmlns:a="http://schemas.openxmlformats.org/drawingml/2006/main">
              <a:ext uri="{FF2B5EF4-FFF2-40B4-BE49-F238E27FC236}">
                <a16:creationId xmlns:a16="http://schemas.microsoft.com/office/drawing/2014/main" id="{95A6F85B-491B-4309-82D6-B5AA72CC1C1D}"/>
              </a:ext>
            </a:extLst>
          </p:cNvPr>
          <p:cNvSpPr>
            <a:spLocks xmlns:a="http://schemas.openxmlformats.org/drawingml/2006/main" noGrp="1"/>
          </p:cNvSpPr>
          <p:nvPr/>
        </p:nvSpPr>
        <p:spPr>
          <a:xfrm xmlns:a="http://schemas.openxmlformats.org/drawingml/2006/main">
            <a:off x="647700" y="5467350"/>
            <a:ext cx="3619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F716B"/>
                </a:solidFill>
                <a:latin typeface="Liberation Sans"/>
                <a:ea typeface="Liberation Sans"/>
                <a:cs typeface="Liberation Sans"/>
              </a:defRPr>
            </a:pPr>
            <a:r>
              <a:rPr sz="1650" b="0">
                <a:solidFill>
                  <a:srgbClr val="5F716B"/>
                </a:solidFill>
                <a:latin typeface="Liberation Sans"/>
                <a:ea typeface="Liberation Sans"/>
                <a:cs typeface="Liberation Sans"/>
              </a:rPr>
              <a:t>illustrative planned value</a:t>
            </a:r>
          </a:p>
          <a:p xmlns:a="http://schemas.openxmlformats.org/drawingml/2006/main">
            <a:pPr>
              <a:defRPr sz="1650" b="0">
                <a:solidFill>
                  <a:srgbClr val="5F716B"/>
                </a:solidFill>
                <a:latin typeface="Liberation Sans"/>
                <a:ea typeface="Liberation Sans"/>
                <a:cs typeface="Liberation Sans"/>
              </a:defRPr>
            </a:pPr>
            <a:r>
              <a:rPr sz="1650" b="0">
                <a:solidFill>
                  <a:srgbClr val="5F716B"/>
                </a:solidFill>
                <a:latin typeface="Liberation Sans"/>
                <a:ea typeface="Liberation Sans"/>
                <a:cs typeface="Liberation Sans"/>
              </a:rPr>
              <a:t>affected, not savings</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8758ed83f7654dca"/>
          <a:stretch xmlns:a="http://schemas.openxmlformats.org/drawingml/2006/main"/>
        </p:blipFill>
        <p:spPr>
          <a:xfrm xmlns:a="http://schemas.openxmlformats.org/drawingml/2006/main">
            <a:off x="5699907" y="2009775"/>
            <a:ext cx="4621237" cy="4171950"/>
          </a:xfrm>
          <a:prstGeom xmlns:a="http://schemas.openxmlformats.org/drawingml/2006/main" prst="rect">
            <a:avLst/>
          </a:prstGeom>
        </p:spPr>
      </p:pic>
    </p:spTree>
    <p:extLst>
      <p:ext uri="{BB962C8B-B14F-4D97-AF65-F5344CB8AC3E}">
        <p14:creationId xmlns:p14="http://schemas.microsoft.com/office/powerpoint/2010/main" val="592745189"/>
      </p:ext>
    </p:extLst>
  </p:cSld>
</p:sld>
</file>

<file path=ppt/slides/slide5.xml><?xml version="1.0" encoding="utf-8"?>
<p:sld xmlns:p="http://schemas.openxmlformats.org/presentationml/2006/main">
  <p:cSld>
    <p:bg>
      <p:bgPr>
        <a:solidFill xmlns:a="http://schemas.openxmlformats.org/drawingml/2006/main">
          <a:srgbClr val="F4F4EB"/>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A370C36-1CDF-428E-80F1-AF0667ADE102}"/>
              </a:ext>
            </a:extLst>
          </p:cNvPr>
          <p:cNvSpPr>
            <a:spLocks xmlns:a="http://schemas.openxmlformats.org/drawingml/2006/main" noGrp="1"/>
          </p:cNvSpPr>
          <p:nvPr/>
        </p:nvSpPr>
        <p:spPr>
          <a:xfrm xmlns:a="http://schemas.openxmlformats.org/drawingml/2006/main">
            <a:off x="647700" y="342900"/>
            <a:ext cx="533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08694F"/>
                </a:solidFill>
                <a:latin typeface="Liberation Sans"/>
                <a:ea typeface="Liberation Sans"/>
                <a:cs typeface="Liberation Sans"/>
              </a:defRPr>
            </a:pPr>
            <a:r>
              <a:rPr sz="1275" b="1">
                <a:solidFill>
                  <a:srgbClr val="08694F"/>
                </a:solidFill>
                <a:latin typeface="Liberation Sans"/>
                <a:ea typeface="Liberation Sans"/>
                <a:cs typeface="Liberation Sans"/>
              </a:rPr>
              <a:t>GROUNDPROOF</a:t>
            </a:r>
          </a:p>
        </p:txBody>
      </p:sp>
      <p:sp>
        <p:nvSpPr>
          <p:cNvPr id="2" name="">
            <a:extLst xmlns:a="http://schemas.openxmlformats.org/drawingml/2006/main">
              <a:ext uri="{FF2B5EF4-FFF2-40B4-BE49-F238E27FC236}">
                <a16:creationId xmlns:a16="http://schemas.microsoft.com/office/drawing/2014/main" id="{A929D539-8328-424E-83C8-368AE4BE3D55}"/>
              </a:ext>
            </a:extLst>
          </p:cNvPr>
          <p:cNvSpPr>
            <a:spLocks xmlns:a="http://schemas.openxmlformats.org/drawingml/2006/main" noGrp="1"/>
          </p:cNvSpPr>
          <p:nvPr/>
        </p:nvSpPr>
        <p:spPr>
          <a:xfrm xmlns:a="http://schemas.openxmlformats.org/drawingml/2006/main">
            <a:off x="647700" y="942975"/>
            <a:ext cx="108966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42C29"/>
                </a:solidFill>
                <a:latin typeface="Liberation Sans"/>
                <a:ea typeface="Liberation Sans"/>
                <a:cs typeface="Liberation Sans"/>
              </a:defRPr>
            </a:pPr>
            <a:r>
              <a:rPr sz="3600" b="1">
                <a:solidFill>
                  <a:srgbClr val="142C29"/>
                </a:solidFill>
                <a:latin typeface="Liberation Sans"/>
                <a:ea typeface="Liberation Sans"/>
                <a:cs typeface="Liberation Sans"/>
              </a:rPr>
              <a:t>Approval follows the exact evidence version</a:t>
            </a:r>
          </a:p>
        </p:txBody>
      </p:sp>
      <p:sp>
        <p:nvSpPr>
          <p:cNvPr id="3" name="">
            <a:extLst xmlns:a="http://schemas.openxmlformats.org/drawingml/2006/main">
              <a:ext uri="{FF2B5EF4-FFF2-40B4-BE49-F238E27FC236}">
                <a16:creationId xmlns:a16="http://schemas.microsoft.com/office/drawing/2014/main" id="{28A55DFF-C4D3-4BC2-9341-A32A08F32BD6}"/>
              </a:ext>
            </a:extLst>
          </p:cNvPr>
          <p:cNvSpPr>
            <a:spLocks xmlns:a="http://schemas.openxmlformats.org/drawingml/2006/main" noGrp="1"/>
          </p:cNvSpPr>
          <p:nvPr/>
        </p:nvSpPr>
        <p:spPr>
          <a:xfrm xmlns:a="http://schemas.openxmlformats.org/drawingml/2006/main">
            <a:off x="10906125" y="6334125"/>
            <a:ext cx="590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F716B"/>
                </a:solidFill>
                <a:latin typeface="Liberation Sans"/>
                <a:ea typeface="Liberation Sans"/>
                <a:cs typeface="Liberation Sans"/>
              </a:defRPr>
            </a:pPr>
            <a:r>
              <a:rPr sz="1200" b="0">
                <a:solidFill>
                  <a:srgbClr val="5F716B"/>
                </a:solidFill>
                <a:latin typeface="Liberation Sans"/>
                <a:ea typeface="Liberation Sans"/>
                <a:cs typeface="Liberation Sans"/>
              </a:rPr>
              <a:t>05</a:t>
            </a:r>
          </a:p>
        </p:txBody>
      </p:sp>
      <p:graphicFrame>
        <p:nvGraphicFramePr>
          <p:cNvPr id="9" name=""/>
          <p:cNvGraphicFramePr/>
          <p:nvPr/>
        </p:nvGraphicFramePr>
        <p:xfrm>
          <a:off xmlns:a="http://schemas.openxmlformats.org/drawingml/2006/main" x="647700" y="2276475"/>
          <a:ext xmlns:a="http://schemas.openxmlformats.org/drawingml/2006/main" cx="10896600" cy="3267075"/>
        </p:xfrm>
        <a:graphic xmlns:a="http://schemas.openxmlformats.org/drawingml/2006/main">
          <a:graphicData uri="http://schemas.openxmlformats.org/drawingml/2006/table">
            <a:tbl>
              <a:tblPr/>
              <a:tblGrid>
                <a:gridCol w="5667375"/>
                <a:gridCol w="5229225"/>
              </a:tblGrid>
              <a:tr h="653415">
                <a:tc>
                  <a:txBody>
                    <a:bodyPr/>
                    <a:lstStyle/>
                    <a:p>
                      <a:r>
                        <a:rPr sz="1575" b="1">
                          <a:solidFill>
                            <a:srgbClr val="FFFFFF"/>
                          </a:solidFill>
                          <a:latin typeface="Liberation Sans"/>
                          <a:ea typeface="Liberation Sans"/>
                          <a:cs typeface="Liberation Sans"/>
                        </a:rPr>
                        <a:t>Condition</a:t>
                      </a:r>
                    </a:p>
                  </a:txBody>
                  <a:tcPr marL="91440" marR="91440" marT="45720" marB="45720">
                    <a:solidFill>
                      <a:srgbClr val="142C29"/>
                    </a:solidFill>
                  </a:tcPr>
                </a:tc>
                <a:tc>
                  <a:txBody>
                    <a:bodyPr/>
                    <a:lstStyle/>
                    <a:p>
                      <a:r>
                        <a:rPr sz="1575" b="1">
                          <a:solidFill>
                            <a:srgbClr val="FFFFFF"/>
                          </a:solidFill>
                          <a:latin typeface="Liberation Sans"/>
                          <a:ea typeface="Liberation Sans"/>
                          <a:cs typeface="Liberation Sans"/>
                        </a:rPr>
                        <a:t>Internal workflow result</a:t>
                      </a:r>
                    </a:p>
                  </a:txBody>
                  <a:tcPr marL="91440" marR="91440" marT="45720" marB="45720">
                    <a:solidFill>
                      <a:srgbClr val="142C29"/>
                    </a:solidFill>
                  </a:tcPr>
                </a:tc>
              </a:tr>
              <a:tr h="653415">
                <a:tc>
                  <a:txBody>
                    <a:bodyPr/>
                    <a:lstStyle/>
                    <a:p>
                      <a:r>
                        <a:rPr sz="1725" b="0">
                          <a:solidFill>
                            <a:srgbClr val="142C29"/>
                          </a:solidFill>
                          <a:latin typeface="Liberation Sans"/>
                          <a:ea typeface="Liberation Sans"/>
                          <a:cs typeface="Liberation Sans"/>
                        </a:rPr>
                        <a:t>New or changed source</a:t>
                      </a:r>
                    </a:p>
                  </a:txBody>
                  <a:tcPr marL="91440" marR="91440" marT="45720" marB="45720">
                    <a:solidFill>
                      <a:srgbClr val="F4F4EB"/>
                    </a:solidFill>
                  </a:tcPr>
                </a:tc>
                <a:tc>
                  <a:txBody>
                    <a:bodyPr/>
                    <a:lstStyle/>
                    <a:p>
                      <a:r>
                        <a:rPr sz="1725" b="0">
                          <a:solidFill>
                            <a:srgbClr val="142C29"/>
                          </a:solidFill>
                          <a:latin typeface="Liberation Sans"/>
                          <a:ea typeface="Liberation Sans"/>
                          <a:cs typeface="Liberation Sans"/>
                        </a:rPr>
                        <a:t>Human evidence review required</a:t>
                      </a:r>
                    </a:p>
                  </a:txBody>
                  <a:tcPr marL="91440" marR="91440" marT="45720" marB="45720">
                    <a:solidFill>
                      <a:srgbClr val="F4F4EB"/>
                    </a:solidFill>
                  </a:tcPr>
                </a:tc>
              </a:tr>
              <a:tr h="653415">
                <a:tc>
                  <a:txBody>
                    <a:bodyPr/>
                    <a:lstStyle/>
                    <a:p>
                      <a:r>
                        <a:rPr sz="1725" b="0">
                          <a:solidFill>
                            <a:srgbClr val="142C29"/>
                          </a:solidFill>
                          <a:latin typeface="Liberation Sans"/>
                          <a:ea typeface="Liberation Sans"/>
                          <a:cs typeface="Liberation Sans"/>
                        </a:rPr>
                        <a:t>Missing, stale, blocked, unavailable</a:t>
                      </a:r>
                    </a:p>
                  </a:txBody>
                  <a:tcPr marL="91440" marR="91440" marT="45720" marB="45720">
                    <a:solidFill>
                      <a:srgbClr val="F4F4EB"/>
                    </a:solidFill>
                  </a:tcPr>
                </a:tc>
                <a:tc>
                  <a:txBody>
                    <a:bodyPr/>
                    <a:lstStyle/>
                    <a:p>
                      <a:r>
                        <a:rPr sz="1725" b="0">
                          <a:solidFill>
                            <a:srgbClr val="142C29"/>
                          </a:solidFill>
                          <a:latin typeface="Liberation Sans"/>
                          <a:ea typeface="Liberation Sans"/>
                          <a:cs typeface="Liberation Sans"/>
                        </a:rPr>
                        <a:t>Job on hold</a:t>
                      </a:r>
                    </a:p>
                  </a:txBody>
                  <a:tcPr marL="91440" marR="91440" marT="45720" marB="45720">
                    <a:solidFill>
                      <a:srgbClr val="F4F4EB"/>
                    </a:solidFill>
                  </a:tcPr>
                </a:tc>
              </a:tr>
              <a:tr h="653415">
                <a:tc>
                  <a:txBody>
                    <a:bodyPr/>
                    <a:lstStyle/>
                    <a:p>
                      <a:r>
                        <a:rPr sz="1725" b="0">
                          <a:solidFill>
                            <a:srgbClr val="142C29"/>
                          </a:solidFill>
                          <a:latin typeface="Liberation Sans"/>
                          <a:ea typeface="Liberation Sans"/>
                          <a:cs typeface="Liberation Sans"/>
                        </a:rPr>
                        <a:t>Current evidence + matching approval</a:t>
                      </a:r>
                    </a:p>
                  </a:txBody>
                  <a:tcPr marL="91440" marR="91440" marT="45720" marB="45720">
                    <a:solidFill>
                      <a:srgbClr val="F4F4EB"/>
                    </a:solidFill>
                  </a:tcPr>
                </a:tc>
                <a:tc>
                  <a:txBody>
                    <a:bodyPr/>
                    <a:lstStyle/>
                    <a:p>
                      <a:r>
                        <a:rPr sz="1725" b="0">
                          <a:solidFill>
                            <a:srgbClr val="142C29"/>
                          </a:solidFill>
                          <a:latin typeface="Liberation Sans"/>
                          <a:ea typeface="Liberation Sans"/>
                          <a:cs typeface="Liberation Sans"/>
                        </a:rPr>
                        <a:t>Review complete</a:t>
                      </a:r>
                    </a:p>
                  </a:txBody>
                  <a:tcPr marL="91440" marR="91440" marT="45720" marB="45720">
                    <a:solidFill>
                      <a:srgbClr val="F4F4EB"/>
                    </a:solidFill>
                  </a:tcPr>
                </a:tc>
              </a:tr>
              <a:tr h="653415">
                <a:tc>
                  <a:txBody>
                    <a:bodyPr/>
                    <a:lstStyle/>
                    <a:p>
                      <a:r>
                        <a:rPr sz="1725" b="0">
                          <a:solidFill>
                            <a:srgbClr val="142C29"/>
                          </a:solidFill>
                          <a:latin typeface="Liberation Sans"/>
                          <a:ea typeface="Liberation Sans"/>
                          <a:cs typeface="Liberation Sans"/>
                        </a:rPr>
                        <a:t>Source re-reviewed after change</a:t>
                      </a:r>
                    </a:p>
                  </a:txBody>
                  <a:tcPr marL="91440" marR="91440" marT="45720" marB="45720">
                    <a:solidFill>
                      <a:srgbClr val="F4F4EB"/>
                    </a:solidFill>
                  </a:tcPr>
                </a:tc>
                <a:tc>
                  <a:txBody>
                    <a:bodyPr/>
                    <a:lstStyle/>
                    <a:p>
                      <a:r>
                        <a:rPr sz="1725" b="0">
                          <a:solidFill>
                            <a:srgbClr val="142C29"/>
                          </a:solidFill>
                          <a:latin typeface="Liberation Sans"/>
                          <a:ea typeface="Liberation Sans"/>
                          <a:cs typeface="Liberation Sans"/>
                        </a:rPr>
                        <a:t>Fresh mission approval still required</a:t>
                      </a:r>
                    </a:p>
                  </a:txBody>
                  <a:tcPr marL="91440" marR="91440" marT="45720" marB="45720">
                    <a:solidFill>
                      <a:srgbClr val="F4F4EB"/>
                    </a:solidFill>
                  </a:tcPr>
                </a:tc>
              </a:tr>
            </a:tbl>
          </a:graphicData>
        </a:graphic>
      </p:graphicFrame>
      <p:sp>
        <p:nvSpPr>
          <p:cNvPr id="5" name="">
            <a:extLst xmlns:a="http://schemas.openxmlformats.org/drawingml/2006/main">
              <a:ext uri="{FF2B5EF4-FFF2-40B4-BE49-F238E27FC236}">
                <a16:creationId xmlns:a16="http://schemas.microsoft.com/office/drawing/2014/main" id="{A9B910E0-49B5-45C9-A921-9FECCCA44BA4}"/>
              </a:ext>
            </a:extLst>
          </p:cNvPr>
          <p:cNvSpPr>
            <a:spLocks xmlns:a="http://schemas.openxmlformats.org/drawingml/2006/main" noGrp="1"/>
          </p:cNvSpPr>
          <p:nvPr/>
        </p:nvSpPr>
        <p:spPr>
          <a:xfrm xmlns:a="http://schemas.openxmlformats.org/drawingml/2006/main">
            <a:off x="647700" y="5800725"/>
            <a:ext cx="10763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8694F"/>
                </a:solidFill>
                <a:latin typeface="Liberation Sans"/>
                <a:ea typeface="Liberation Sans"/>
                <a:cs typeface="Liberation Sans"/>
              </a:defRPr>
            </a:pPr>
            <a:r>
              <a:rPr sz="1800" b="1">
                <a:solidFill>
                  <a:srgbClr val="08694F"/>
                </a:solidFill>
                <a:latin typeface="Liberation Sans"/>
                <a:ea typeface="Liberation Sans"/>
                <a:cs typeface="Liberation Sans"/>
              </a:rPr>
              <a:t>Deterministic rules. Server checks. No LLM decides readiness.</a:t>
            </a:r>
          </a:p>
        </p:txBody>
      </p:sp>
    </p:spTree>
    <p:extLst>
      <p:ext uri="{BB962C8B-B14F-4D97-AF65-F5344CB8AC3E}">
        <p14:creationId xmlns:p14="http://schemas.microsoft.com/office/powerpoint/2010/main" val="721464581"/>
      </p:ext>
    </p:extLst>
  </p:cSld>
</p:sld>
</file>

<file path=ppt/slides/slide6.xml><?xml version="1.0" encoding="utf-8"?>
<p:sld xmlns:p="http://schemas.openxmlformats.org/presentationml/2006/main">
  <p:cSld>
    <p:bg>
      <p:bgPr>
        <a:solidFill xmlns:a="http://schemas.openxmlformats.org/drawingml/2006/main">
          <a:srgbClr val="142C29"/>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E87B15B-C2E6-4950-9774-D10C53ABEF72}"/>
              </a:ext>
            </a:extLst>
          </p:cNvPr>
          <p:cNvSpPr>
            <a:spLocks xmlns:a="http://schemas.openxmlformats.org/drawingml/2006/main" noGrp="1"/>
          </p:cNvSpPr>
          <p:nvPr/>
        </p:nvSpPr>
        <p:spPr>
          <a:xfrm xmlns:a="http://schemas.openxmlformats.org/drawingml/2006/main">
            <a:off x="647700" y="342900"/>
            <a:ext cx="533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D5ED64"/>
                </a:solidFill>
                <a:latin typeface="Liberation Sans"/>
                <a:ea typeface="Liberation Sans"/>
                <a:cs typeface="Liberation Sans"/>
              </a:defRPr>
            </a:pPr>
            <a:r>
              <a:rPr sz="1275" b="1">
                <a:solidFill>
                  <a:srgbClr val="D5ED64"/>
                </a:solidFill>
                <a:latin typeface="Liberation Sans"/>
                <a:ea typeface="Liberation Sans"/>
                <a:cs typeface="Liberation Sans"/>
              </a:rPr>
              <a:t>GROUNDPROOF</a:t>
            </a:r>
          </a:p>
        </p:txBody>
      </p:sp>
      <p:sp>
        <p:nvSpPr>
          <p:cNvPr id="2" name="">
            <a:extLst xmlns:a="http://schemas.openxmlformats.org/drawingml/2006/main">
              <a:ext uri="{FF2B5EF4-FFF2-40B4-BE49-F238E27FC236}">
                <a16:creationId xmlns:a16="http://schemas.microsoft.com/office/drawing/2014/main" id="{7A1DA1A7-B35C-438C-9655-989271A499A6}"/>
              </a:ext>
            </a:extLst>
          </p:cNvPr>
          <p:cNvSpPr>
            <a:spLocks xmlns:a="http://schemas.openxmlformats.org/drawingml/2006/main" noGrp="1"/>
          </p:cNvSpPr>
          <p:nvPr/>
        </p:nvSpPr>
        <p:spPr>
          <a:xfrm xmlns:a="http://schemas.openxmlformats.org/drawingml/2006/main">
            <a:off x="647700" y="942975"/>
            <a:ext cx="108966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FFFFF"/>
                </a:solidFill>
                <a:latin typeface="Liberation Sans"/>
                <a:ea typeface="Liberation Sans"/>
                <a:cs typeface="Liberation Sans"/>
              </a:defRPr>
            </a:pPr>
            <a:r>
              <a:rPr sz="3600" b="1">
                <a:solidFill>
                  <a:srgbClr val="FFFFFF"/>
                </a:solidFill>
                <a:latin typeface="Liberation Sans"/>
                <a:ea typeface="Liberation Sans"/>
                <a:cs typeface="Liberation Sans"/>
              </a:rPr>
              <a:t>What we can prove today</a:t>
            </a:r>
          </a:p>
        </p:txBody>
      </p:sp>
      <p:sp>
        <p:nvSpPr>
          <p:cNvPr id="3" name="">
            <a:extLst xmlns:a="http://schemas.openxmlformats.org/drawingml/2006/main">
              <a:ext uri="{FF2B5EF4-FFF2-40B4-BE49-F238E27FC236}">
                <a16:creationId xmlns:a16="http://schemas.microsoft.com/office/drawing/2014/main" id="{C00870B5-F35B-4349-A28C-5AD8C91293FB}"/>
              </a:ext>
            </a:extLst>
          </p:cNvPr>
          <p:cNvSpPr>
            <a:spLocks xmlns:a="http://schemas.openxmlformats.org/drawingml/2006/main" noGrp="1"/>
          </p:cNvSpPr>
          <p:nvPr/>
        </p:nvSpPr>
        <p:spPr>
          <a:xfrm xmlns:a="http://schemas.openxmlformats.org/drawingml/2006/main">
            <a:off x="10906125" y="6334125"/>
            <a:ext cx="590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ADC1B9"/>
                </a:solidFill>
                <a:latin typeface="Liberation Sans"/>
                <a:ea typeface="Liberation Sans"/>
                <a:cs typeface="Liberation Sans"/>
              </a:defRPr>
            </a:pPr>
            <a:r>
              <a:rPr sz="1200" b="0">
                <a:solidFill>
                  <a:srgbClr val="ADC1B9"/>
                </a:solidFill>
                <a:latin typeface="Liberation Sans"/>
                <a:ea typeface="Liberation Sans"/>
                <a:cs typeface="Liberation Sans"/>
              </a:rPr>
              <a:t>06</a:t>
            </a:r>
          </a:p>
        </p:txBody>
      </p:sp>
      <p:sp>
        <p:nvSpPr>
          <p:cNvPr id="4" name="">
            <a:extLst xmlns:a="http://schemas.openxmlformats.org/drawingml/2006/main">
              <a:ext uri="{FF2B5EF4-FFF2-40B4-BE49-F238E27FC236}">
                <a16:creationId xmlns:a16="http://schemas.microsoft.com/office/drawing/2014/main" id="{B67134A3-067B-462D-891E-43510EE88BC1}"/>
              </a:ext>
            </a:extLst>
          </p:cNvPr>
          <p:cNvSpPr>
            <a:spLocks xmlns:a="http://schemas.openxmlformats.org/drawingml/2006/main" noGrp="1"/>
          </p:cNvSpPr>
          <p:nvPr/>
        </p:nvSpPr>
        <p:spPr>
          <a:xfrm xmlns:a="http://schemas.openxmlformats.org/drawingml/2006/main">
            <a:off x="647700" y="2390775"/>
            <a:ext cx="48577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D5ED64"/>
                </a:solidFill>
                <a:latin typeface="Liberation Sans"/>
                <a:ea typeface="Liberation Sans"/>
                <a:cs typeface="Liberation Sans"/>
              </a:defRPr>
            </a:pPr>
            <a:r>
              <a:rPr sz="2625" b="1">
                <a:solidFill>
                  <a:srgbClr val="D5ED64"/>
                </a:solidFill>
                <a:latin typeface="Liberation Sans"/>
                <a:ea typeface="Liberation Sans"/>
                <a:cs typeface="Liberation Sans"/>
              </a:rPr>
              <a:t>Working software</a:t>
            </a:r>
          </a:p>
        </p:txBody>
      </p:sp>
      <p:sp>
        <p:nvSpPr>
          <p:cNvPr id="5" name="">
            <a:extLst xmlns:a="http://schemas.openxmlformats.org/drawingml/2006/main">
              <a:ext uri="{FF2B5EF4-FFF2-40B4-BE49-F238E27FC236}">
                <a16:creationId xmlns:a16="http://schemas.microsoft.com/office/drawing/2014/main" id="{93D8A38C-4E3C-4FA3-9428-87E6441F9626}"/>
              </a:ext>
            </a:extLst>
          </p:cNvPr>
          <p:cNvSpPr>
            <a:spLocks xmlns:a="http://schemas.openxmlformats.org/drawingml/2006/main" noGrp="1"/>
          </p:cNvSpPr>
          <p:nvPr/>
        </p:nvSpPr>
        <p:spPr>
          <a:xfrm xmlns:a="http://schemas.openxmlformats.org/drawingml/2006/main">
            <a:off x="647700" y="3162300"/>
            <a:ext cx="501967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FFFFFF"/>
                </a:solidFill>
                <a:latin typeface="Liberation Sans"/>
                <a:ea typeface="Liberation Sans"/>
                <a:cs typeface="Liberation Sans"/>
              </a:defRPr>
            </a:pPr>
            <a:r>
              <a:rPr sz="2175" b="0">
                <a:solidFill>
                  <a:srgbClr val="FFFFFF"/>
                </a:solidFill>
                <a:latin typeface="Liberation Sans"/>
                <a:ea typeface="Liberation Sans"/>
                <a:cs typeface="Liberation Sans"/>
              </a:rPr>
              <a:t>Accounts with saved recovery keys</a:t>
            </a:r>
          </a:p>
          <a:p xmlns:a="http://schemas.openxmlformats.org/drawingml/2006/main">
            <a:pPr>
              <a:defRPr sz="2175" b="0">
                <a:solidFill>
                  <a:srgbClr val="FFFFFF"/>
                </a:solidFill>
                <a:latin typeface="Liberation Sans"/>
                <a:ea typeface="Liberation Sans"/>
                <a:cs typeface="Liberation Sans"/>
              </a:defRPr>
            </a:pPr>
            <a:r>
              <a:rPr sz="2175" b="0">
                <a:solidFill>
                  <a:srgbClr val="FFFFFF"/>
                </a:solidFill>
                <a:latin typeface="Liberation Sans"/>
                <a:ea typeface="Liberation Sans"/>
                <a:cs typeface="Liberation Sans"/>
              </a:rPr>
              <a:t>Authenticated Anakin capture</a:t>
            </a:r>
          </a:p>
          <a:p xmlns:a="http://schemas.openxmlformats.org/drawingml/2006/main">
            <a:pPr>
              <a:defRPr sz="2175" b="0">
                <a:solidFill>
                  <a:srgbClr val="FFFFFF"/>
                </a:solidFill>
                <a:latin typeface="Liberation Sans"/>
                <a:ea typeface="Liberation Sans"/>
                <a:cs typeface="Liberation Sans"/>
              </a:defRPr>
            </a:pPr>
            <a:r>
              <a:rPr sz="2175" b="0">
                <a:solidFill>
                  <a:srgbClr val="FFFFFF"/>
                </a:solidFill>
                <a:latin typeface="Liberation Sans"/>
                <a:ea typeface="Liberation Sans"/>
                <a:cs typeface="Liberation Sans"/>
              </a:rPr>
              <a:t>Scheduled source monitoring</a:t>
            </a:r>
          </a:p>
          <a:p xmlns:a="http://schemas.openxmlformats.org/drawingml/2006/main">
            <a:pPr>
              <a:defRPr sz="2175" b="0">
                <a:solidFill>
                  <a:srgbClr val="FFFFFF"/>
                </a:solidFill>
                <a:latin typeface="Liberation Sans"/>
                <a:ea typeface="Liberation Sans"/>
                <a:cs typeface="Liberation Sans"/>
              </a:defRPr>
            </a:pPr>
            <a:r>
              <a:rPr sz="2175" b="0">
                <a:solidFill>
                  <a:srgbClr val="FFFFFF"/>
                </a:solidFill>
                <a:latin typeface="Liberation Sans"/>
                <a:ea typeface="Liberation Sans"/>
                <a:cs typeface="Liberation Sans"/>
              </a:rPr>
              <a:t>Operator records and capture history</a:t>
            </a:r>
          </a:p>
          <a:p xmlns:a="http://schemas.openxmlformats.org/drawingml/2006/main">
            <a:pPr>
              <a:defRPr sz="2175" b="0">
                <a:solidFill>
                  <a:srgbClr val="FFFFFF"/>
                </a:solidFill>
                <a:latin typeface="Liberation Sans"/>
                <a:ea typeface="Liberation Sans"/>
                <a:cs typeface="Liberation Sans"/>
              </a:defRPr>
            </a:pPr>
            <a:r>
              <a:rPr sz="2175" b="0">
                <a:solidFill>
                  <a:srgbClr val="FFFFFF"/>
                </a:solidFill>
                <a:latin typeface="Liberation Sans"/>
                <a:ea typeface="Liberation Sans"/>
                <a:cs typeface="Liberation Sans"/>
              </a:rPr>
              <a:t>Version-bound signoff and export</a:t>
            </a:r>
          </a:p>
        </p:txBody>
      </p:sp>
      <p:sp>
        <p:nvSpPr>
          <p:cNvPr id="6" name="">
            <a:extLst xmlns:a="http://schemas.openxmlformats.org/drawingml/2006/main">
              <a:ext uri="{FF2B5EF4-FFF2-40B4-BE49-F238E27FC236}">
                <a16:creationId xmlns:a16="http://schemas.microsoft.com/office/drawing/2014/main" id="{C656D82F-3A24-44C2-AFB0-77425CF5E663}"/>
              </a:ext>
            </a:extLst>
          </p:cNvPr>
          <p:cNvSpPr>
            <a:spLocks xmlns:a="http://schemas.openxmlformats.org/drawingml/2006/main" noGrp="1"/>
          </p:cNvSpPr>
          <p:nvPr/>
        </p:nvSpPr>
        <p:spPr>
          <a:xfrm xmlns:a="http://schemas.openxmlformats.org/drawingml/2006/main">
            <a:off x="6572250" y="2390775"/>
            <a:ext cx="48577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D5ED64"/>
                </a:solidFill>
                <a:latin typeface="Liberation Sans"/>
                <a:ea typeface="Liberation Sans"/>
                <a:cs typeface="Liberation Sans"/>
              </a:defRPr>
            </a:pPr>
            <a:r>
              <a:rPr sz="2625" b="1">
                <a:solidFill>
                  <a:srgbClr val="D5ED64"/>
                </a:solidFill>
                <a:latin typeface="Liberation Sans"/>
                <a:ea typeface="Liberation Sans"/>
                <a:cs typeface="Liberation Sans"/>
              </a:rPr>
              <a:t>Still to validate</a:t>
            </a:r>
          </a:p>
        </p:txBody>
      </p:sp>
      <p:sp>
        <p:nvSpPr>
          <p:cNvPr id="7" name="">
            <a:extLst xmlns:a="http://schemas.openxmlformats.org/drawingml/2006/main">
              <a:ext uri="{FF2B5EF4-FFF2-40B4-BE49-F238E27FC236}">
                <a16:creationId xmlns:a16="http://schemas.microsoft.com/office/drawing/2014/main" id="{6200DBF3-23AB-4022-89B2-3E831408C58F}"/>
              </a:ext>
            </a:extLst>
          </p:cNvPr>
          <p:cNvSpPr>
            <a:spLocks xmlns:a="http://schemas.openxmlformats.org/drawingml/2006/main" noGrp="1"/>
          </p:cNvSpPr>
          <p:nvPr/>
        </p:nvSpPr>
        <p:spPr>
          <a:xfrm xmlns:a="http://schemas.openxmlformats.org/drawingml/2006/main">
            <a:off x="6572250" y="3162300"/>
            <a:ext cx="4876800"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FFFFFF"/>
                </a:solidFill>
                <a:latin typeface="Liberation Sans"/>
                <a:ea typeface="Liberation Sans"/>
                <a:cs typeface="Liberation Sans"/>
              </a:defRPr>
            </a:pPr>
            <a:r>
              <a:rPr sz="2175" b="0">
                <a:solidFill>
                  <a:srgbClr val="FFFFFF"/>
                </a:solidFill>
                <a:latin typeface="Liberation Sans"/>
                <a:ea typeface="Liberation Sans"/>
                <a:cs typeface="Liberation Sans"/>
              </a:rPr>
              <a:t>Operator time savings</a:t>
            </a:r>
          </a:p>
          <a:p xmlns:a="http://schemas.openxmlformats.org/drawingml/2006/main">
            <a:pPr>
              <a:defRPr sz="2175" b="0">
                <a:solidFill>
                  <a:srgbClr val="FFFFFF"/>
                </a:solidFill>
                <a:latin typeface="Liberation Sans"/>
                <a:ea typeface="Liberation Sans"/>
                <a:cs typeface="Liberation Sans"/>
              </a:defRPr>
            </a:pPr>
            <a:r>
              <a:rPr sz="2175" b="0">
                <a:solidFill>
                  <a:srgbClr val="FFFFFF"/>
                </a:solidFill>
                <a:latin typeface="Liberation Sans"/>
                <a:ea typeface="Liberation Sans"/>
                <a:cs typeface="Liberation Sans"/>
              </a:rPr>
              <a:t>Source coverage in real workflows</a:t>
            </a:r>
          </a:p>
          <a:p xmlns:a="http://schemas.openxmlformats.org/drawingml/2006/main">
            <a:pPr>
              <a:defRPr sz="2175" b="0">
                <a:solidFill>
                  <a:srgbClr val="FFFFFF"/>
                </a:solidFill>
                <a:latin typeface="Liberation Sans"/>
                <a:ea typeface="Liberation Sans"/>
                <a:cs typeface="Liberation Sans"/>
              </a:defRPr>
            </a:pPr>
            <a:r>
              <a:rPr sz="2175" b="0">
                <a:solidFill>
                  <a:srgbClr val="FFFFFF"/>
                </a:solidFill>
                <a:latin typeface="Liberation Sans"/>
                <a:ea typeface="Liberation Sans"/>
                <a:cs typeface="Liberation Sans"/>
              </a:rPr>
              <a:t>Willingness to pay</a:t>
            </a:r>
          </a:p>
          <a:p xmlns:a="http://schemas.openxmlformats.org/drawingml/2006/main">
            <a:pPr>
              <a:defRPr sz="2175" b="0">
                <a:solidFill>
                  <a:srgbClr val="FFFFFF"/>
                </a:solidFill>
                <a:latin typeface="Liberation Sans"/>
                <a:ea typeface="Liberation Sans"/>
                <a:cs typeface="Liberation Sans"/>
              </a:defRPr>
            </a:pPr>
            <a:r>
              <a:rPr sz="2175" b="0">
                <a:solidFill>
                  <a:srgbClr val="FFFFFF"/>
                </a:solidFill>
                <a:latin typeface="Liberation Sans"/>
                <a:ea typeface="Liberation Sans"/>
                <a:cs typeface="Liberation Sans"/>
              </a:rPr>
              <a:t>Operational backup and restore</a:t>
            </a:r>
          </a:p>
        </p:txBody>
      </p:sp>
      <p:sp>
        <p:nvSpPr>
          <p:cNvPr id="8" name="">
            <a:extLst xmlns:a="http://schemas.openxmlformats.org/drawingml/2006/main">
              <a:ext uri="{FF2B5EF4-FFF2-40B4-BE49-F238E27FC236}">
                <a16:creationId xmlns:a16="http://schemas.microsoft.com/office/drawing/2014/main" id="{672E3E40-8E44-4F09-B4E9-CCE7812AD9DC}"/>
              </a:ext>
            </a:extLst>
          </p:cNvPr>
          <p:cNvSpPr>
            <a:spLocks xmlns:a="http://schemas.openxmlformats.org/drawingml/2006/main" noGrp="1"/>
          </p:cNvSpPr>
          <p:nvPr/>
        </p:nvSpPr>
        <p:spPr>
          <a:xfrm xmlns:a="http://schemas.openxmlformats.org/drawingml/2006/main">
            <a:off x="647700" y="5819775"/>
            <a:ext cx="107632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BED0C8"/>
                </a:solidFill>
                <a:latin typeface="Liberation Sans"/>
                <a:ea typeface="Liberation Sans"/>
                <a:cs typeface="Liberation Sans"/>
              </a:defRPr>
            </a:pPr>
            <a:r>
              <a:rPr sz="1800" b="0">
                <a:solidFill>
                  <a:srgbClr val="BED0C8"/>
                </a:solidFill>
                <a:latin typeface="Liberation Sans"/>
                <a:ea typeface="Liberation Sans"/>
                <a:cs typeface="Liberation Sans"/>
              </a:rPr>
              <a:t>Covered tests demonstrate behavior. A pilot tests usefulness.</a:t>
            </a:r>
          </a:p>
        </p:txBody>
      </p:sp>
    </p:spTree>
    <p:extLst>
      <p:ext uri="{BB962C8B-B14F-4D97-AF65-F5344CB8AC3E}">
        <p14:creationId xmlns:p14="http://schemas.microsoft.com/office/powerpoint/2010/main" val="306275636"/>
      </p:ext>
    </p:extLst>
  </p:cSld>
</p:sld>
</file>

<file path=ppt/slides/slide7.xml><?xml version="1.0" encoding="utf-8"?>
<p:sld xmlns:p="http://schemas.openxmlformats.org/presentationml/2006/main">
  <p:cSld>
    <p:bg>
      <p:bgPr>
        <a:solidFill xmlns:a="http://schemas.openxmlformats.org/drawingml/2006/main">
          <a:srgbClr val="F4F4EB"/>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5CFE385-855E-4FD2-85E7-EBF098706485}"/>
              </a:ext>
            </a:extLst>
          </p:cNvPr>
          <p:cNvSpPr>
            <a:spLocks xmlns:a="http://schemas.openxmlformats.org/drawingml/2006/main" noGrp="1"/>
          </p:cNvSpPr>
          <p:nvPr/>
        </p:nvSpPr>
        <p:spPr>
          <a:xfrm xmlns:a="http://schemas.openxmlformats.org/drawingml/2006/main">
            <a:off x="647700" y="342900"/>
            <a:ext cx="533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08694F"/>
                </a:solidFill>
                <a:latin typeface="Liberation Sans"/>
                <a:ea typeface="Liberation Sans"/>
                <a:cs typeface="Liberation Sans"/>
              </a:defRPr>
            </a:pPr>
            <a:r>
              <a:rPr sz="1275" b="1">
                <a:solidFill>
                  <a:srgbClr val="08694F"/>
                </a:solidFill>
                <a:latin typeface="Liberation Sans"/>
                <a:ea typeface="Liberation Sans"/>
                <a:cs typeface="Liberation Sans"/>
              </a:rPr>
              <a:t>GROUNDPROOF</a:t>
            </a:r>
          </a:p>
        </p:txBody>
      </p:sp>
      <p:sp>
        <p:nvSpPr>
          <p:cNvPr id="2" name="">
            <a:extLst xmlns:a="http://schemas.openxmlformats.org/drawingml/2006/main">
              <a:ext uri="{FF2B5EF4-FFF2-40B4-BE49-F238E27FC236}">
                <a16:creationId xmlns:a16="http://schemas.microsoft.com/office/drawing/2014/main" id="{EF1FA8DC-D2BC-4485-AA24-606A70E5CC5A}"/>
              </a:ext>
            </a:extLst>
          </p:cNvPr>
          <p:cNvSpPr>
            <a:spLocks xmlns:a="http://schemas.openxmlformats.org/drawingml/2006/main" noGrp="1"/>
          </p:cNvSpPr>
          <p:nvPr/>
        </p:nvSpPr>
        <p:spPr>
          <a:xfrm xmlns:a="http://schemas.openxmlformats.org/drawingml/2006/main">
            <a:off x="647700" y="942975"/>
            <a:ext cx="108966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42C29"/>
                </a:solidFill>
                <a:latin typeface="Liberation Sans"/>
                <a:ea typeface="Liberation Sans"/>
                <a:cs typeface="Liberation Sans"/>
              </a:defRPr>
            </a:pPr>
            <a:r>
              <a:rPr sz="3600" b="1">
                <a:solidFill>
                  <a:srgbClr val="142C29"/>
                </a:solidFill>
                <a:latin typeface="Liberation Sans"/>
                <a:ea typeface="Liberation Sans"/>
                <a:cs typeface="Liberation Sans"/>
              </a:rPr>
              <a:t>A focused addition to existing flight software</a:t>
            </a:r>
          </a:p>
        </p:txBody>
      </p:sp>
      <p:sp>
        <p:nvSpPr>
          <p:cNvPr id="3" name="">
            <a:extLst xmlns:a="http://schemas.openxmlformats.org/drawingml/2006/main">
              <a:ext uri="{FF2B5EF4-FFF2-40B4-BE49-F238E27FC236}">
                <a16:creationId xmlns:a16="http://schemas.microsoft.com/office/drawing/2014/main" id="{3400F852-E3F6-49EC-B5E3-814F7CE1C982}"/>
              </a:ext>
            </a:extLst>
          </p:cNvPr>
          <p:cNvSpPr>
            <a:spLocks xmlns:a="http://schemas.openxmlformats.org/drawingml/2006/main" noGrp="1"/>
          </p:cNvSpPr>
          <p:nvPr/>
        </p:nvSpPr>
        <p:spPr>
          <a:xfrm xmlns:a="http://schemas.openxmlformats.org/drawingml/2006/main">
            <a:off x="10906125" y="6334125"/>
            <a:ext cx="590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F716B"/>
                </a:solidFill>
                <a:latin typeface="Liberation Sans"/>
                <a:ea typeface="Liberation Sans"/>
                <a:cs typeface="Liberation Sans"/>
              </a:defRPr>
            </a:pPr>
            <a:r>
              <a:rPr sz="1200" b="0">
                <a:solidFill>
                  <a:srgbClr val="5F716B"/>
                </a:solidFill>
                <a:latin typeface="Liberation Sans"/>
                <a:ea typeface="Liberation Sans"/>
                <a:cs typeface="Liberation Sans"/>
              </a:rPr>
              <a:t>07</a:t>
            </a:r>
          </a:p>
        </p:txBody>
      </p:sp>
      <p:graphicFrame>
        <p:nvGraphicFramePr>
          <p:cNvPr id="9" name=""/>
          <p:cNvGraphicFramePr/>
          <p:nvPr/>
        </p:nvGraphicFramePr>
        <p:xfrm>
          <a:off xmlns:a="http://schemas.openxmlformats.org/drawingml/2006/main" x="647700" y="2314575"/>
          <a:ext xmlns:a="http://schemas.openxmlformats.org/drawingml/2006/main" cx="10896600" cy="3086100"/>
        </p:xfrm>
        <a:graphic xmlns:a="http://schemas.openxmlformats.org/drawingml/2006/main">
          <a:graphicData uri="http://schemas.openxmlformats.org/drawingml/2006/table">
            <a:tbl>
              <a:tblPr/>
              <a:tblGrid>
                <a:gridCol w="4162425"/>
                <a:gridCol w="6734175"/>
              </a:tblGrid>
              <a:tr h="617220">
                <a:tc>
                  <a:txBody>
                    <a:bodyPr/>
                    <a:lstStyle/>
                    <a:p>
                      <a:r>
                        <a:rPr sz="1575" b="1">
                          <a:solidFill>
                            <a:srgbClr val="FFFFFF"/>
                          </a:solidFill>
                          <a:latin typeface="Liberation Sans"/>
                          <a:ea typeface="Liberation Sans"/>
                          <a:cs typeface="Liberation Sans"/>
                        </a:rPr>
                        <a:t>Existing category</a:t>
                      </a:r>
                    </a:p>
                  </a:txBody>
                  <a:tcPr marL="91440" marR="91440" marT="45720" marB="45720">
                    <a:solidFill>
                      <a:srgbClr val="142C29"/>
                    </a:solidFill>
                  </a:tcPr>
                </a:tc>
                <a:tc>
                  <a:txBody>
                    <a:bodyPr/>
                    <a:lstStyle/>
                    <a:p>
                      <a:r>
                        <a:rPr sz="1575" b="1">
                          <a:solidFill>
                            <a:srgbClr val="FFFFFF"/>
                          </a:solidFill>
                          <a:latin typeface="Liberation Sans"/>
                          <a:ea typeface="Liberation Sans"/>
                          <a:cs typeface="Liberation Sans"/>
                        </a:rPr>
                        <a:t>Published focus</a:t>
                      </a:r>
                    </a:p>
                  </a:txBody>
                  <a:tcPr marL="91440" marR="91440" marT="45720" marB="45720">
                    <a:solidFill>
                      <a:srgbClr val="142C29"/>
                    </a:solidFill>
                  </a:tcPr>
                </a:tc>
              </a:tr>
              <a:tr h="617220">
                <a:tc>
                  <a:txBody>
                    <a:bodyPr/>
                    <a:lstStyle/>
                    <a:p>
                      <a:r>
                        <a:rPr sz="1725" b="0">
                          <a:solidFill>
                            <a:srgbClr val="142C29"/>
                          </a:solidFill>
                          <a:latin typeface="Liberation Sans"/>
                          <a:ea typeface="Liberation Sans"/>
                          <a:cs typeface="Liberation Sans"/>
                        </a:rPr>
                        <a:t>Aloft / AirHub</a:t>
                      </a:r>
                    </a:p>
                  </a:txBody>
                  <a:tcPr marL="91440" marR="91440" marT="45720" marB="45720">
                    <a:solidFill>
                      <a:srgbClr val="F4F4EB"/>
                    </a:solidFill>
                  </a:tcPr>
                </a:tc>
                <a:tc>
                  <a:txBody>
                    <a:bodyPr/>
                    <a:lstStyle/>
                    <a:p>
                      <a:r>
                        <a:rPr sz="1725" b="0">
                          <a:solidFill>
                            <a:srgbClr val="142C29"/>
                          </a:solidFill>
                          <a:latin typeface="Liberation Sans"/>
                          <a:ea typeface="Liberation Sans"/>
                          <a:cs typeface="Liberation Sans"/>
                        </a:rPr>
                        <a:t>Fleet, compliance, approvals</a:t>
                      </a:r>
                    </a:p>
                  </a:txBody>
                  <a:tcPr marL="91440" marR="91440" marT="45720" marB="45720">
                    <a:solidFill>
                      <a:srgbClr val="F4F4EB"/>
                    </a:solidFill>
                  </a:tcPr>
                </a:tc>
              </a:tr>
              <a:tr h="617220">
                <a:tc>
                  <a:txBody>
                    <a:bodyPr/>
                    <a:lstStyle/>
                    <a:p>
                      <a:r>
                        <a:rPr sz="1725" b="0">
                          <a:solidFill>
                            <a:srgbClr val="142C29"/>
                          </a:solidFill>
                          <a:latin typeface="Liberation Sans"/>
                          <a:ea typeface="Liberation Sans"/>
                          <a:cs typeface="Liberation Sans"/>
                        </a:rPr>
                        <a:t>Drone Harmony</a:t>
                      </a:r>
                    </a:p>
                  </a:txBody>
                  <a:tcPr marL="91440" marR="91440" marT="45720" marB="45720">
                    <a:solidFill>
                      <a:srgbClr val="F4F4EB"/>
                    </a:solidFill>
                  </a:tcPr>
                </a:tc>
                <a:tc>
                  <a:txBody>
                    <a:bodyPr/>
                    <a:lstStyle/>
                    <a:p>
                      <a:r>
                        <a:rPr sz="1725" b="0">
                          <a:solidFill>
                            <a:srgbClr val="142C29"/>
                          </a:solidFill>
                          <a:latin typeface="Liberation Sans"/>
                          <a:ea typeface="Liberation Sans"/>
                          <a:cs typeface="Liberation Sans"/>
                        </a:rPr>
                        <a:t>Inspection capture and review</a:t>
                      </a:r>
                    </a:p>
                  </a:txBody>
                  <a:tcPr marL="91440" marR="91440" marT="45720" marB="45720">
                    <a:solidFill>
                      <a:srgbClr val="F4F4EB"/>
                    </a:solidFill>
                  </a:tcPr>
                </a:tc>
              </a:tr>
              <a:tr h="617220">
                <a:tc>
                  <a:txBody>
                    <a:bodyPr/>
                    <a:lstStyle/>
                    <a:p>
                      <a:r>
                        <a:rPr sz="1725" b="0">
                          <a:solidFill>
                            <a:srgbClr val="142C29"/>
                          </a:solidFill>
                          <a:latin typeface="Liberation Sans"/>
                          <a:ea typeface="Liberation Sans"/>
                          <a:cs typeface="Liberation Sans"/>
                        </a:rPr>
                        <a:t>Anakin</a:t>
                      </a:r>
                    </a:p>
                  </a:txBody>
                  <a:tcPr marL="91440" marR="91440" marT="45720" marB="45720">
                    <a:solidFill>
                      <a:srgbClr val="F4F4EB"/>
                    </a:solidFill>
                  </a:tcPr>
                </a:tc>
                <a:tc>
                  <a:txBody>
                    <a:bodyPr/>
                    <a:lstStyle/>
                    <a:p>
                      <a:r>
                        <a:rPr sz="1725" b="0">
                          <a:solidFill>
                            <a:srgbClr val="142C29"/>
                          </a:solidFill>
                          <a:latin typeface="Liberation Sans"/>
                          <a:ea typeface="Liberation Sans"/>
                          <a:cs typeface="Liberation Sans"/>
                        </a:rPr>
                        <a:t>Web capture and change monitoring</a:t>
                      </a:r>
                    </a:p>
                  </a:txBody>
                  <a:tcPr marL="91440" marR="91440" marT="45720" marB="45720">
                    <a:solidFill>
                      <a:srgbClr val="F4F4EB"/>
                    </a:solidFill>
                  </a:tcPr>
                </a:tc>
              </a:tr>
              <a:tr h="617220">
                <a:tc>
                  <a:txBody>
                    <a:bodyPr/>
                    <a:lstStyle/>
                    <a:p>
                      <a:r>
                        <a:rPr sz="1725" b="0">
                          <a:solidFill>
                            <a:srgbClr val="142C29"/>
                          </a:solidFill>
                          <a:latin typeface="Liberation Sans"/>
                          <a:ea typeface="Liberation Sans"/>
                          <a:cs typeface="Liberation Sans"/>
                        </a:rPr>
                        <a:t>GroundProof</a:t>
                      </a:r>
                    </a:p>
                  </a:txBody>
                  <a:tcPr marL="91440" marR="91440" marT="45720" marB="45720">
                    <a:solidFill>
                      <a:srgbClr val="F4F4EB"/>
                    </a:solidFill>
                  </a:tcPr>
                </a:tc>
                <a:tc>
                  <a:txBody>
                    <a:bodyPr/>
                    <a:lstStyle/>
                    <a:p>
                      <a:r>
                        <a:rPr sz="1725" b="0">
                          <a:solidFill>
                            <a:srgbClr val="142C29"/>
                          </a:solidFill>
                          <a:latin typeface="Liberation Sans"/>
                          <a:ea typeface="Liberation Sans"/>
                          <a:cs typeface="Liberation Sans"/>
                        </a:rPr>
                        <a:t>Evidence versions linked to job approval</a:t>
                      </a:r>
                    </a:p>
                  </a:txBody>
                  <a:tcPr marL="91440" marR="91440" marT="45720" marB="45720">
                    <a:solidFill>
                      <a:srgbClr val="F4F4EB"/>
                    </a:solidFill>
                  </a:tcPr>
                </a:tc>
              </a:tr>
            </a:tbl>
          </a:graphicData>
        </a:graphic>
      </p:graphicFrame>
      <p:sp>
        <p:nvSpPr>
          <p:cNvPr id="5" name="">
            <a:extLst xmlns:a="http://schemas.openxmlformats.org/drawingml/2006/main">
              <a:ext uri="{FF2B5EF4-FFF2-40B4-BE49-F238E27FC236}">
                <a16:creationId xmlns:a16="http://schemas.microsoft.com/office/drawing/2014/main" id="{1736F577-FB66-4CFC-AC68-00A1FD844884}"/>
              </a:ext>
            </a:extLst>
          </p:cNvPr>
          <p:cNvSpPr>
            <a:spLocks xmlns:a="http://schemas.openxmlformats.org/drawingml/2006/main" noGrp="1"/>
          </p:cNvSpPr>
          <p:nvPr/>
        </p:nvSpPr>
        <p:spPr>
          <a:xfrm xmlns:a="http://schemas.openxmlformats.org/drawingml/2006/main">
            <a:off x="647700" y="5810250"/>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8694F"/>
                </a:solidFill>
                <a:latin typeface="Liberation Sans"/>
                <a:ea typeface="Liberation Sans"/>
                <a:cs typeface="Liberation Sans"/>
              </a:defRPr>
            </a:pPr>
            <a:r>
              <a:rPr sz="1800" b="1">
                <a:solidFill>
                  <a:srgbClr val="08694F"/>
                </a:solidFill>
                <a:latin typeface="Liberation Sans"/>
                <a:ea typeface="Liberation Sans"/>
                <a:cs typeface="Liberation Sans"/>
              </a:rPr>
              <a:t>The pilot must prove this narrow workflow adds enough value.</a:t>
            </a:r>
          </a:p>
        </p:txBody>
      </p:sp>
    </p:spTree>
    <p:extLst>
      <p:ext uri="{BB962C8B-B14F-4D97-AF65-F5344CB8AC3E}">
        <p14:creationId xmlns:p14="http://schemas.microsoft.com/office/powerpoint/2010/main" val="1093499888"/>
      </p:ext>
    </p:extLst>
  </p:cSld>
</p:sld>
</file>

<file path=ppt/slides/slide8.xml><?xml version="1.0" encoding="utf-8"?>
<p:sld xmlns:p="http://schemas.openxmlformats.org/presentationml/2006/main">
  <p:cSld>
    <p:bg>
      <p:bgPr>
        <a:solidFill xmlns:a="http://schemas.openxmlformats.org/drawingml/2006/main">
          <a:srgbClr val="F4F4EB"/>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438B234-6E02-45F9-891B-000E021DBF49}"/>
              </a:ext>
            </a:extLst>
          </p:cNvPr>
          <p:cNvSpPr>
            <a:spLocks xmlns:a="http://schemas.openxmlformats.org/drawingml/2006/main" noGrp="1"/>
          </p:cNvSpPr>
          <p:nvPr/>
        </p:nvSpPr>
        <p:spPr>
          <a:xfrm xmlns:a="http://schemas.openxmlformats.org/drawingml/2006/main">
            <a:off x="647700" y="342900"/>
            <a:ext cx="533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08694F"/>
                </a:solidFill>
                <a:latin typeface="Liberation Sans"/>
                <a:ea typeface="Liberation Sans"/>
                <a:cs typeface="Liberation Sans"/>
              </a:defRPr>
            </a:pPr>
            <a:r>
              <a:rPr sz="1275" b="1">
                <a:solidFill>
                  <a:srgbClr val="08694F"/>
                </a:solidFill>
                <a:latin typeface="Liberation Sans"/>
                <a:ea typeface="Liberation Sans"/>
                <a:cs typeface="Liberation Sans"/>
              </a:rPr>
              <a:t>GROUNDPROOF</a:t>
            </a:r>
          </a:p>
        </p:txBody>
      </p:sp>
      <p:sp>
        <p:nvSpPr>
          <p:cNvPr id="2" name="">
            <a:extLst xmlns:a="http://schemas.openxmlformats.org/drawingml/2006/main">
              <a:ext uri="{FF2B5EF4-FFF2-40B4-BE49-F238E27FC236}">
                <a16:creationId xmlns:a16="http://schemas.microsoft.com/office/drawing/2014/main" id="{D8289194-0E39-4E48-B200-F382FFE5DAB3}"/>
              </a:ext>
            </a:extLst>
          </p:cNvPr>
          <p:cNvSpPr>
            <a:spLocks xmlns:a="http://schemas.openxmlformats.org/drawingml/2006/main" noGrp="1"/>
          </p:cNvSpPr>
          <p:nvPr/>
        </p:nvSpPr>
        <p:spPr>
          <a:xfrm xmlns:a="http://schemas.openxmlformats.org/drawingml/2006/main">
            <a:off x="647700" y="942975"/>
            <a:ext cx="108966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42C29"/>
                </a:solidFill>
                <a:latin typeface="Liberation Sans"/>
                <a:ea typeface="Liberation Sans"/>
                <a:cs typeface="Liberation Sans"/>
              </a:defRPr>
            </a:pPr>
            <a:r>
              <a:rPr sz="3600" b="1">
                <a:solidFill>
                  <a:srgbClr val="142C29"/>
                </a:solidFill>
                <a:latin typeface="Liberation Sans"/>
                <a:ea typeface="Liberation Sans"/>
                <a:cs typeface="Liberation Sans"/>
              </a:rPr>
              <a:t>A subscription the pilot must earn</a:t>
            </a:r>
          </a:p>
        </p:txBody>
      </p:sp>
      <p:sp>
        <p:nvSpPr>
          <p:cNvPr id="3" name="">
            <a:extLst xmlns:a="http://schemas.openxmlformats.org/drawingml/2006/main">
              <a:ext uri="{FF2B5EF4-FFF2-40B4-BE49-F238E27FC236}">
                <a16:creationId xmlns:a16="http://schemas.microsoft.com/office/drawing/2014/main" id="{AC870847-AF39-42FD-AA5F-8FEEDC55CBB2}"/>
              </a:ext>
            </a:extLst>
          </p:cNvPr>
          <p:cNvSpPr>
            <a:spLocks xmlns:a="http://schemas.openxmlformats.org/drawingml/2006/main" noGrp="1"/>
          </p:cNvSpPr>
          <p:nvPr/>
        </p:nvSpPr>
        <p:spPr>
          <a:xfrm xmlns:a="http://schemas.openxmlformats.org/drawingml/2006/main">
            <a:off x="10906125" y="6334125"/>
            <a:ext cx="590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F716B"/>
                </a:solidFill>
                <a:latin typeface="Liberation Sans"/>
                <a:ea typeface="Liberation Sans"/>
                <a:cs typeface="Liberation Sans"/>
              </a:defRPr>
            </a:pPr>
            <a:r>
              <a:rPr sz="1200" b="0">
                <a:solidFill>
                  <a:srgbClr val="5F716B"/>
                </a:solidFill>
                <a:latin typeface="Liberation Sans"/>
                <a:ea typeface="Liberation Sans"/>
                <a:cs typeface="Liberation Sans"/>
              </a:rPr>
              <a:t>08</a:t>
            </a:r>
          </a:p>
        </p:txBody>
      </p:sp>
      <p:sp>
        <p:nvSpPr>
          <p:cNvPr id="4" name="">
            <a:extLst xmlns:a="http://schemas.openxmlformats.org/drawingml/2006/main">
              <a:ext uri="{FF2B5EF4-FFF2-40B4-BE49-F238E27FC236}">
                <a16:creationId xmlns:a16="http://schemas.microsoft.com/office/drawing/2014/main" id="{8C132AC3-B677-4EF3-BA0C-1DA1D8D918C6}"/>
              </a:ext>
            </a:extLst>
          </p:cNvPr>
          <p:cNvSpPr>
            <a:spLocks xmlns:a="http://schemas.openxmlformats.org/drawingml/2006/main" noGrp="1"/>
          </p:cNvSpPr>
          <p:nvPr/>
        </p:nvSpPr>
        <p:spPr>
          <a:xfrm xmlns:a="http://schemas.openxmlformats.org/drawingml/2006/main">
            <a:off x="647700" y="2152650"/>
            <a:ext cx="666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425" b="1">
                <a:solidFill>
                  <a:srgbClr val="08694F"/>
                </a:solidFill>
                <a:latin typeface="Liberation Sans"/>
                <a:ea typeface="Liberation Sans"/>
                <a:cs typeface="Liberation Sans"/>
              </a:defRPr>
            </a:pPr>
            <a:r>
              <a:rPr sz="4425" b="1">
                <a:solidFill>
                  <a:srgbClr val="08694F"/>
                </a:solidFill>
                <a:latin typeface="Liberation Sans"/>
                <a:ea typeface="Liberation Sans"/>
                <a:cs typeface="Liberation Sans"/>
              </a:rPr>
              <a:t>$199 / month</a:t>
            </a:r>
          </a:p>
        </p:txBody>
      </p:sp>
      <p:sp>
        <p:nvSpPr>
          <p:cNvPr id="5" name="">
            <a:extLst xmlns:a="http://schemas.openxmlformats.org/drawingml/2006/main">
              <a:ext uri="{FF2B5EF4-FFF2-40B4-BE49-F238E27FC236}">
                <a16:creationId xmlns:a16="http://schemas.microsoft.com/office/drawing/2014/main" id="{26541CCC-EEA8-4518-BED5-88B8FDE727C0}"/>
              </a:ext>
            </a:extLst>
          </p:cNvPr>
          <p:cNvSpPr>
            <a:spLocks xmlns:a="http://schemas.openxmlformats.org/drawingml/2006/main" noGrp="1"/>
          </p:cNvSpPr>
          <p:nvPr/>
        </p:nvSpPr>
        <p:spPr>
          <a:xfrm xmlns:a="http://schemas.openxmlformats.org/drawingml/2006/main">
            <a:off x="647700" y="3114675"/>
            <a:ext cx="107632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42C29"/>
                </a:solidFill>
                <a:latin typeface="Liberation Sans"/>
                <a:ea typeface="Liberation Sans"/>
                <a:cs typeface="Liberation Sans"/>
              </a:defRPr>
            </a:pPr>
            <a:r>
              <a:rPr sz="2025" b="0">
                <a:solidFill>
                  <a:srgbClr val="142C29"/>
                </a:solidFill>
                <a:latin typeface="Liberation Sans"/>
                <a:ea typeface="Liberation Sans"/>
                <a:cs typeface="Liberation Sans"/>
              </a:rPr>
              <a:t>Proposed price for a coordinator workspace</a:t>
            </a:r>
          </a:p>
        </p:txBody>
      </p:sp>
      <p:graphicFrame>
        <p:nvGraphicFramePr>
          <p:cNvPr id="13" name=""/>
          <p:cNvGraphicFramePr/>
          <p:nvPr/>
        </p:nvGraphicFramePr>
        <p:xfrm>
          <a:off xmlns:a="http://schemas.openxmlformats.org/drawingml/2006/main" x="647700" y="3905250"/>
          <a:ext xmlns:a="http://schemas.openxmlformats.org/drawingml/2006/main" cx="10896600" cy="1581150"/>
        </p:xfrm>
        <a:graphic xmlns:a="http://schemas.openxmlformats.org/drawingml/2006/main">
          <a:graphicData uri="http://schemas.openxmlformats.org/drawingml/2006/table">
            <a:tbl>
              <a:tblPr/>
              <a:tblGrid>
                <a:gridCol w="8229600"/>
                <a:gridCol w="2667000"/>
              </a:tblGrid>
              <a:tr h="527050">
                <a:tc>
                  <a:txBody>
                    <a:bodyPr/>
                    <a:lstStyle/>
                    <a:p>
                      <a:r>
                        <a:rPr sz="1575" b="1">
                          <a:solidFill>
                            <a:srgbClr val="FFFFFF"/>
                          </a:solidFill>
                          <a:latin typeface="Liberation Sans"/>
                          <a:ea typeface="Liberation Sans"/>
                          <a:cs typeface="Liberation Sans"/>
                        </a:rPr>
                        <a:t>Illustrative monthly time value</a:t>
                      </a:r>
                    </a:p>
                  </a:txBody>
                  <a:tcPr marL="91440" marR="91440" marT="45720" marB="45720">
                    <a:solidFill>
                      <a:srgbClr val="142C29"/>
                    </a:solidFill>
                  </a:tcPr>
                </a:tc>
                <a:tc>
                  <a:txBody>
                    <a:bodyPr/>
                    <a:lstStyle/>
                    <a:p>
                      <a:r>
                        <a:rPr sz="1575" b="1">
                          <a:solidFill>
                            <a:srgbClr val="FFFFFF"/>
                          </a:solidFill>
                          <a:latin typeface="Liberation Sans"/>
                          <a:ea typeface="Liberation Sans"/>
                          <a:cs typeface="Liberation Sans"/>
                        </a:rPr>
                        <a:t>Result</a:t>
                      </a:r>
                    </a:p>
                  </a:txBody>
                  <a:tcPr marL="91440" marR="91440" marT="45720" marB="45720">
                    <a:solidFill>
                      <a:srgbClr val="142C29"/>
                    </a:solidFill>
                  </a:tcPr>
                </a:tc>
              </a:tr>
              <a:tr h="527050">
                <a:tc>
                  <a:txBody>
                    <a:bodyPr/>
                    <a:lstStyle/>
                    <a:p>
                      <a:r>
                        <a:rPr sz="1725" b="0">
                          <a:solidFill>
                            <a:srgbClr val="142C29"/>
                          </a:solidFill>
                          <a:latin typeface="Liberation Sans"/>
                          <a:ea typeface="Liberation Sans"/>
                          <a:cs typeface="Liberation Sans"/>
                        </a:rPr>
                        <a:t>100 jobs × 4 minutes ÷ 60 × $40/hour</a:t>
                      </a:r>
                    </a:p>
                  </a:txBody>
                  <a:tcPr marL="91440" marR="91440" marT="45720" marB="45720">
                    <a:solidFill>
                      <a:srgbClr val="F4F4EB"/>
                    </a:solidFill>
                  </a:tcPr>
                </a:tc>
                <a:tc>
                  <a:txBody>
                    <a:bodyPr/>
                    <a:lstStyle/>
                    <a:p>
                      <a:r>
                        <a:rPr sz="1725" b="0">
                          <a:solidFill>
                            <a:srgbClr val="142C29"/>
                          </a:solidFill>
                          <a:latin typeface="Liberation Sans"/>
                          <a:ea typeface="Liberation Sans"/>
                          <a:cs typeface="Liberation Sans"/>
                        </a:rPr>
                        <a:t>$267</a:t>
                      </a:r>
                    </a:p>
                  </a:txBody>
                  <a:tcPr marL="91440" marR="91440" marT="45720" marB="45720">
                    <a:solidFill>
                      <a:srgbClr val="F4F4EB"/>
                    </a:solidFill>
                  </a:tcPr>
                </a:tc>
              </a:tr>
              <a:tr h="527050">
                <a:tc>
                  <a:txBody>
                    <a:bodyPr/>
                    <a:lstStyle/>
                    <a:p>
                      <a:r>
                        <a:rPr sz="1725" b="0">
                          <a:solidFill>
                            <a:srgbClr val="142C29"/>
                          </a:solidFill>
                          <a:latin typeface="Liberation Sans"/>
                          <a:ea typeface="Liberation Sans"/>
                          <a:cs typeface="Liberation Sans"/>
                        </a:rPr>
                        <a:t>50 jobs × 4 minutes ÷ 60 × $40/hour</a:t>
                      </a:r>
                    </a:p>
                  </a:txBody>
                  <a:tcPr marL="91440" marR="91440" marT="45720" marB="45720">
                    <a:solidFill>
                      <a:srgbClr val="F4F4EB"/>
                    </a:solidFill>
                  </a:tcPr>
                </a:tc>
                <a:tc>
                  <a:txBody>
                    <a:bodyPr/>
                    <a:lstStyle/>
                    <a:p>
                      <a:r>
                        <a:rPr sz="1725" b="0">
                          <a:solidFill>
                            <a:srgbClr val="142C29"/>
                          </a:solidFill>
                          <a:latin typeface="Liberation Sans"/>
                          <a:ea typeface="Liberation Sans"/>
                          <a:cs typeface="Liberation Sans"/>
                        </a:rPr>
                        <a:t>$133</a:t>
                      </a:r>
                    </a:p>
                  </a:txBody>
                  <a:tcPr marL="91440" marR="91440" marT="45720" marB="45720">
                    <a:solidFill>
                      <a:srgbClr val="F4F4EB"/>
                    </a:solidFill>
                  </a:tcPr>
                </a:tc>
              </a:tr>
            </a:tbl>
          </a:graphicData>
        </a:graphic>
      </p:graphicFrame>
      <p:sp>
        <p:nvSpPr>
          <p:cNvPr id="7" name="">
            <a:extLst xmlns:a="http://schemas.openxmlformats.org/drawingml/2006/main">
              <a:ext uri="{FF2B5EF4-FFF2-40B4-BE49-F238E27FC236}">
                <a16:creationId xmlns:a16="http://schemas.microsoft.com/office/drawing/2014/main" id="{7BDFB652-A587-49A5-A4E1-7A22AC8D8F7D}"/>
              </a:ext>
            </a:extLst>
          </p:cNvPr>
          <p:cNvSpPr>
            <a:spLocks xmlns:a="http://schemas.openxmlformats.org/drawingml/2006/main" noGrp="1"/>
          </p:cNvSpPr>
          <p:nvPr/>
        </p:nvSpPr>
        <p:spPr>
          <a:xfrm xmlns:a="http://schemas.openxmlformats.org/drawingml/2006/main">
            <a:off x="647700" y="5753100"/>
            <a:ext cx="1076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F716B"/>
                </a:solidFill>
                <a:latin typeface="Liberation Sans"/>
                <a:ea typeface="Liberation Sans"/>
                <a:cs typeface="Liberation Sans"/>
              </a:defRPr>
            </a:pPr>
            <a:r>
              <a:rPr sz="1725" b="0">
                <a:solidFill>
                  <a:srgbClr val="5F716B"/>
                </a:solidFill>
                <a:latin typeface="Liberation Sans"/>
                <a:ea typeface="Liberation Sans"/>
                <a:cs typeface="Liberation Sans"/>
              </a:rPr>
              <a:t>Unvalidated inputs. At lower volume, time savings alone may not justify the price.</a:t>
            </a:r>
          </a:p>
        </p:txBody>
      </p:sp>
    </p:spTree>
    <p:extLst>
      <p:ext uri="{BB962C8B-B14F-4D97-AF65-F5344CB8AC3E}">
        <p14:creationId xmlns:p14="http://schemas.microsoft.com/office/powerpoint/2010/main" val="1104982308"/>
      </p:ext>
    </p:extLst>
  </p:cSld>
</p:sld>
</file>

<file path=ppt/slides/slide9.xml><?xml version="1.0" encoding="utf-8"?>
<p:sld xmlns:p="http://schemas.openxmlformats.org/presentationml/2006/main">
  <p:cSld>
    <p:bg>
      <p:bgPr>
        <a:solidFill xmlns:a="http://schemas.openxmlformats.org/drawingml/2006/main">
          <a:srgbClr val="F4F4EB"/>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DF1F739-D060-44C1-B439-410CA9400F8C}"/>
              </a:ext>
            </a:extLst>
          </p:cNvPr>
          <p:cNvSpPr>
            <a:spLocks xmlns:a="http://schemas.openxmlformats.org/drawingml/2006/main" noGrp="1"/>
          </p:cNvSpPr>
          <p:nvPr/>
        </p:nvSpPr>
        <p:spPr>
          <a:xfrm xmlns:a="http://schemas.openxmlformats.org/drawingml/2006/main">
            <a:off x="647700" y="342900"/>
            <a:ext cx="533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08694F"/>
                </a:solidFill>
                <a:latin typeface="Liberation Sans"/>
                <a:ea typeface="Liberation Sans"/>
                <a:cs typeface="Liberation Sans"/>
              </a:defRPr>
            </a:pPr>
            <a:r>
              <a:rPr sz="1275" b="1">
                <a:solidFill>
                  <a:srgbClr val="08694F"/>
                </a:solidFill>
                <a:latin typeface="Liberation Sans"/>
                <a:ea typeface="Liberation Sans"/>
                <a:cs typeface="Liberation Sans"/>
              </a:rPr>
              <a:t>GROUNDPROOF</a:t>
            </a:r>
          </a:p>
        </p:txBody>
      </p:sp>
      <p:sp>
        <p:nvSpPr>
          <p:cNvPr id="2" name="">
            <a:extLst xmlns:a="http://schemas.openxmlformats.org/drawingml/2006/main">
              <a:ext uri="{FF2B5EF4-FFF2-40B4-BE49-F238E27FC236}">
                <a16:creationId xmlns:a16="http://schemas.microsoft.com/office/drawing/2014/main" id="{242C6068-FD0A-4FD6-9CBF-7597DB33EC24}"/>
              </a:ext>
            </a:extLst>
          </p:cNvPr>
          <p:cNvSpPr>
            <a:spLocks xmlns:a="http://schemas.openxmlformats.org/drawingml/2006/main" noGrp="1"/>
          </p:cNvSpPr>
          <p:nvPr/>
        </p:nvSpPr>
        <p:spPr>
          <a:xfrm xmlns:a="http://schemas.openxmlformats.org/drawingml/2006/main">
            <a:off x="647700" y="942975"/>
            <a:ext cx="108966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42C29"/>
                </a:solidFill>
                <a:latin typeface="Liberation Sans"/>
                <a:ea typeface="Liberation Sans"/>
                <a:cs typeface="Liberation Sans"/>
              </a:defRPr>
            </a:pPr>
            <a:r>
              <a:rPr sz="3600" b="1">
                <a:solidFill>
                  <a:srgbClr val="142C29"/>
                </a:solidFill>
                <a:latin typeface="Liberation Sans"/>
                <a:ea typeface="Liberation Sans"/>
                <a:cs typeface="Liberation Sans"/>
              </a:rPr>
              <a:t>Four weeks to a paid continuation decision</a:t>
            </a:r>
          </a:p>
        </p:txBody>
      </p:sp>
      <p:sp>
        <p:nvSpPr>
          <p:cNvPr id="3" name="">
            <a:extLst xmlns:a="http://schemas.openxmlformats.org/drawingml/2006/main">
              <a:ext uri="{FF2B5EF4-FFF2-40B4-BE49-F238E27FC236}">
                <a16:creationId xmlns:a16="http://schemas.microsoft.com/office/drawing/2014/main" id="{64036608-941D-40B4-A497-1BF614834068}"/>
              </a:ext>
            </a:extLst>
          </p:cNvPr>
          <p:cNvSpPr>
            <a:spLocks xmlns:a="http://schemas.openxmlformats.org/drawingml/2006/main" noGrp="1"/>
          </p:cNvSpPr>
          <p:nvPr/>
        </p:nvSpPr>
        <p:spPr>
          <a:xfrm xmlns:a="http://schemas.openxmlformats.org/drawingml/2006/main">
            <a:off x="10906125" y="6334125"/>
            <a:ext cx="590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F716B"/>
                </a:solidFill>
                <a:latin typeface="Liberation Sans"/>
                <a:ea typeface="Liberation Sans"/>
                <a:cs typeface="Liberation Sans"/>
              </a:defRPr>
            </a:pPr>
            <a:r>
              <a:rPr sz="1200" b="0">
                <a:solidFill>
                  <a:srgbClr val="5F716B"/>
                </a:solidFill>
                <a:latin typeface="Liberation Sans"/>
                <a:ea typeface="Liberation Sans"/>
                <a:cs typeface="Liberation Sans"/>
              </a:rPr>
              <a:t>09</a:t>
            </a:r>
          </a:p>
        </p:txBody>
      </p:sp>
      <p:graphicFrame>
        <p:nvGraphicFramePr>
          <p:cNvPr id="9" name=""/>
          <p:cNvGraphicFramePr/>
          <p:nvPr/>
        </p:nvGraphicFramePr>
        <p:xfrm>
          <a:off xmlns:a="http://schemas.openxmlformats.org/drawingml/2006/main" x="647700" y="2276475"/>
          <a:ext xmlns:a="http://schemas.openxmlformats.org/drawingml/2006/main" cx="10896600" cy="3257550"/>
        </p:xfrm>
        <a:graphic xmlns:a="http://schemas.openxmlformats.org/drawingml/2006/main">
          <a:graphicData uri="http://schemas.openxmlformats.org/drawingml/2006/table">
            <a:tbl>
              <a:tblPr/>
              <a:tblGrid>
                <a:gridCol w="1619250"/>
                <a:gridCol w="9277350"/>
              </a:tblGrid>
              <a:tr h="651510">
                <a:tc>
                  <a:txBody>
                    <a:bodyPr/>
                    <a:lstStyle/>
                    <a:p>
                      <a:r>
                        <a:rPr sz="1575" b="1">
                          <a:solidFill>
                            <a:srgbClr val="FFFFFF"/>
                          </a:solidFill>
                          <a:latin typeface="Liberation Sans"/>
                          <a:ea typeface="Liberation Sans"/>
                          <a:cs typeface="Liberation Sans"/>
                        </a:rPr>
                        <a:t>Week</a:t>
                      </a:r>
                    </a:p>
                  </a:txBody>
                  <a:tcPr marL="91440" marR="91440" marT="45720" marB="45720">
                    <a:solidFill>
                      <a:srgbClr val="142C29"/>
                    </a:solidFill>
                  </a:tcPr>
                </a:tc>
                <a:tc>
                  <a:txBody>
                    <a:bodyPr/>
                    <a:lstStyle/>
                    <a:p>
                      <a:r>
                        <a:rPr sz="1575" b="1">
                          <a:solidFill>
                            <a:srgbClr val="FFFFFF"/>
                          </a:solidFill>
                          <a:latin typeface="Liberation Sans"/>
                          <a:ea typeface="Liberation Sans"/>
                          <a:cs typeface="Liberation Sans"/>
                        </a:rPr>
                        <a:t>Operator evidence</a:t>
                      </a:r>
                    </a:p>
                  </a:txBody>
                  <a:tcPr marL="91440" marR="91440" marT="45720" marB="45720">
                    <a:solidFill>
                      <a:srgbClr val="142C29"/>
                    </a:solidFill>
                  </a:tcPr>
                </a:tc>
              </a:tr>
              <a:tr h="651510">
                <a:tc>
                  <a:txBody>
                    <a:bodyPr/>
                    <a:lstStyle/>
                    <a:p>
                      <a:r>
                        <a:rPr sz="1725" b="0">
                          <a:solidFill>
                            <a:srgbClr val="142C29"/>
                          </a:solidFill>
                          <a:latin typeface="Liberation Sans"/>
                          <a:ea typeface="Liberation Sans"/>
                          <a:cs typeface="Liberation Sans"/>
                        </a:rPr>
                        <a:t>1</a:t>
                      </a:r>
                    </a:p>
                  </a:txBody>
                  <a:tcPr marL="91440" marR="91440" marT="45720" marB="45720">
                    <a:solidFill>
                      <a:srgbClr val="F4F4EB"/>
                    </a:solidFill>
                  </a:tcPr>
                </a:tc>
                <a:tc>
                  <a:txBody>
                    <a:bodyPr/>
                    <a:lstStyle/>
                    <a:p>
                      <a:r>
                        <a:rPr sz="1725" b="0">
                          <a:solidFill>
                            <a:srgbClr val="142C29"/>
                          </a:solidFill>
                          <a:latin typeface="Liberation Sans"/>
                          <a:ea typeface="Liberation Sans"/>
                          <a:cs typeface="Liberation Sans"/>
                        </a:rPr>
                        <a:t>Baseline review time and source inventory</a:t>
                      </a:r>
                    </a:p>
                  </a:txBody>
                  <a:tcPr marL="91440" marR="91440" marT="45720" marB="45720">
                    <a:solidFill>
                      <a:srgbClr val="F4F4EB"/>
                    </a:solidFill>
                  </a:tcPr>
                </a:tc>
              </a:tr>
              <a:tr h="651510">
                <a:tc>
                  <a:txBody>
                    <a:bodyPr/>
                    <a:lstStyle/>
                    <a:p>
                      <a:r>
                        <a:rPr sz="1725" b="0">
                          <a:solidFill>
                            <a:srgbClr val="142C29"/>
                          </a:solidFill>
                          <a:latin typeface="Liberation Sans"/>
                          <a:ea typeface="Liberation Sans"/>
                          <a:cs typeface="Liberation Sans"/>
                        </a:rPr>
                        <a:t>2</a:t>
                      </a:r>
                    </a:p>
                  </a:txBody>
                  <a:tcPr marL="91440" marR="91440" marT="45720" marB="45720">
                    <a:solidFill>
                      <a:srgbClr val="F4F4EB"/>
                    </a:solidFill>
                  </a:tcPr>
                </a:tc>
                <a:tc>
                  <a:txBody>
                    <a:bodyPr/>
                    <a:lstStyle/>
                    <a:p>
                      <a:r>
                        <a:rPr sz="1725" b="0">
                          <a:solidFill>
                            <a:srgbClr val="142C29"/>
                          </a:solidFill>
                          <a:latin typeface="Liberation Sans"/>
                          <a:ea typeface="Liberation Sans"/>
                          <a:cs typeface="Liberation Sans"/>
                        </a:rPr>
                        <a:t>Shadow workflow and discrepancy log</a:t>
                      </a:r>
                    </a:p>
                  </a:txBody>
                  <a:tcPr marL="91440" marR="91440" marT="45720" marB="45720">
                    <a:solidFill>
                      <a:srgbClr val="F4F4EB"/>
                    </a:solidFill>
                  </a:tcPr>
                </a:tc>
              </a:tr>
              <a:tr h="651510">
                <a:tc>
                  <a:txBody>
                    <a:bodyPr/>
                    <a:lstStyle/>
                    <a:p>
                      <a:r>
                        <a:rPr sz="1725" b="0">
                          <a:solidFill>
                            <a:srgbClr val="142C29"/>
                          </a:solidFill>
                          <a:latin typeface="Liberation Sans"/>
                          <a:ea typeface="Liberation Sans"/>
                          <a:cs typeface="Liberation Sans"/>
                        </a:rPr>
                        <a:t>3</a:t>
                      </a:r>
                    </a:p>
                  </a:txBody>
                  <a:tcPr marL="91440" marR="91440" marT="45720" marB="45720">
                    <a:solidFill>
                      <a:srgbClr val="F4F4EB"/>
                    </a:solidFill>
                  </a:tcPr>
                </a:tc>
                <a:tc>
                  <a:txBody>
                    <a:bodyPr/>
                    <a:lstStyle/>
                    <a:p>
                      <a:r>
                        <a:rPr sz="1725" b="0">
                          <a:solidFill>
                            <a:srgbClr val="142C29"/>
                          </a:solidFill>
                          <a:latin typeface="Liberation Sans"/>
                          <a:ea typeface="Liberation Sans"/>
                          <a:cs typeface="Liberation Sans"/>
                        </a:rPr>
                        <a:t>Controlled failures and recovery drills</a:t>
                      </a:r>
                    </a:p>
                  </a:txBody>
                  <a:tcPr marL="91440" marR="91440" marT="45720" marB="45720">
                    <a:solidFill>
                      <a:srgbClr val="F4F4EB"/>
                    </a:solidFill>
                  </a:tcPr>
                </a:tc>
              </a:tr>
              <a:tr h="651510">
                <a:tc>
                  <a:txBody>
                    <a:bodyPr/>
                    <a:lstStyle/>
                    <a:p>
                      <a:r>
                        <a:rPr sz="1725" b="0">
                          <a:solidFill>
                            <a:srgbClr val="142C29"/>
                          </a:solidFill>
                          <a:latin typeface="Liberation Sans"/>
                          <a:ea typeface="Liberation Sans"/>
                          <a:cs typeface="Liberation Sans"/>
                        </a:rPr>
                        <a:t>4</a:t>
                      </a:r>
                    </a:p>
                  </a:txBody>
                  <a:tcPr marL="91440" marR="91440" marT="45720" marB="45720">
                    <a:solidFill>
                      <a:srgbClr val="F4F4EB"/>
                    </a:solidFill>
                  </a:tcPr>
                </a:tc>
                <a:tc>
                  <a:txBody>
                    <a:bodyPr/>
                    <a:lstStyle/>
                    <a:p>
                      <a:r>
                        <a:rPr sz="1725" b="0">
                          <a:solidFill>
                            <a:srgbClr val="142C29"/>
                          </a:solidFill>
                          <a:latin typeface="Liberation Sans"/>
                          <a:ea typeface="Liberation Sans"/>
                          <a:cs typeface="Liberation Sans"/>
                        </a:rPr>
                        <a:t>Measured benefit, cost and continuation decision</a:t>
                      </a:r>
                    </a:p>
                  </a:txBody>
                  <a:tcPr marL="91440" marR="91440" marT="45720" marB="45720">
                    <a:solidFill>
                      <a:srgbClr val="F4F4EB"/>
                    </a:solidFill>
                  </a:tcPr>
                </a:tc>
              </a:tr>
            </a:tbl>
          </a:graphicData>
        </a:graphic>
      </p:graphicFrame>
      <p:sp>
        <p:nvSpPr>
          <p:cNvPr id="5" name="">
            <a:extLst xmlns:a="http://schemas.openxmlformats.org/drawingml/2006/main">
              <a:ext uri="{FF2B5EF4-FFF2-40B4-BE49-F238E27FC236}">
                <a16:creationId xmlns:a16="http://schemas.microsoft.com/office/drawing/2014/main" id="{496E5826-348D-447A-923F-CBE0ABFF7A50}"/>
              </a:ext>
            </a:extLst>
          </p:cNvPr>
          <p:cNvSpPr>
            <a:spLocks xmlns:a="http://schemas.openxmlformats.org/drawingml/2006/main" noGrp="1"/>
          </p:cNvSpPr>
          <p:nvPr/>
        </p:nvSpPr>
        <p:spPr>
          <a:xfrm xmlns:a="http://schemas.openxmlformats.org/drawingml/2006/main">
            <a:off x="647700" y="5762625"/>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08694F"/>
                </a:solidFill>
                <a:latin typeface="Liberation Sans"/>
                <a:ea typeface="Liberation Sans"/>
                <a:cs typeface="Liberation Sans"/>
              </a:defRPr>
            </a:pPr>
            <a:r>
              <a:rPr sz="1725" b="0">
                <a:solidFill>
                  <a:srgbClr val="08694F"/>
                </a:solidFill>
                <a:latin typeface="Liberation Sans"/>
                <a:ea typeface="Liberation Sans"/>
                <a:cs typeface="Liberation Sans"/>
              </a:rPr>
              <a:t>Proposed gates: zero known invalid approvals in drills, 90% source coverage,</a:t>
            </a:r>
          </a:p>
          <a:p xmlns:a="http://schemas.openxmlformats.org/drawingml/2006/main">
            <a:pPr>
              <a:defRPr sz="1725" b="0">
                <a:solidFill>
                  <a:srgbClr val="08694F"/>
                </a:solidFill>
                <a:latin typeface="Liberation Sans"/>
                <a:ea typeface="Liberation Sans"/>
                <a:cs typeface="Liberation Sans"/>
              </a:defRPr>
            </a:pPr>
            <a:r>
              <a:rPr sz="1725" b="0">
                <a:solidFill>
                  <a:srgbClr val="08694F"/>
                </a:solidFill>
                <a:latin typeface="Liberation Sans"/>
                <a:ea typeface="Liberation Sans"/>
                <a:cs typeface="Liberation Sans"/>
              </a:rPr>
              <a:t>and 25% less median review time. Agree thresholds with the partner first.</a:t>
            </a:r>
          </a:p>
        </p:txBody>
      </p:sp>
    </p:spTree>
    <p:extLst>
      <p:ext uri="{BB962C8B-B14F-4D97-AF65-F5344CB8AC3E}">
        <p14:creationId xmlns:p14="http://schemas.microsoft.com/office/powerpoint/2010/main" val="2043362033"/>
      </p:ext>
    </p:extLst>
  </p:cSld>
</p:sld>
</file>

<file path=ppt/slides/slide10.xml><?xml version="1.0" encoding="utf-8"?>
<p:sld xmlns:p="http://schemas.openxmlformats.org/presentationml/2006/main">
  <p:cSld>
    <p:bg>
      <p:bgPr>
        <a:solidFill xmlns:a="http://schemas.openxmlformats.org/drawingml/2006/main">
          <a:srgbClr val="142C29"/>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0BCA8B4-F818-4A5C-A721-E56674C928E7}"/>
              </a:ext>
            </a:extLst>
          </p:cNvPr>
          <p:cNvSpPr>
            <a:spLocks xmlns:a="http://schemas.openxmlformats.org/drawingml/2006/main" noGrp="1"/>
          </p:cNvSpPr>
          <p:nvPr/>
        </p:nvSpPr>
        <p:spPr>
          <a:xfrm xmlns:a="http://schemas.openxmlformats.org/drawingml/2006/main">
            <a:off x="647700" y="342900"/>
            <a:ext cx="533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D5ED64"/>
                </a:solidFill>
                <a:latin typeface="Liberation Sans"/>
                <a:ea typeface="Liberation Sans"/>
                <a:cs typeface="Liberation Sans"/>
              </a:defRPr>
            </a:pPr>
            <a:r>
              <a:rPr sz="1275" b="1">
                <a:solidFill>
                  <a:srgbClr val="D5ED64"/>
                </a:solidFill>
                <a:latin typeface="Liberation Sans"/>
                <a:ea typeface="Liberation Sans"/>
                <a:cs typeface="Liberation Sans"/>
              </a:rPr>
              <a:t>GROUNDPROOF</a:t>
            </a:r>
          </a:p>
        </p:txBody>
      </p:sp>
      <p:sp>
        <p:nvSpPr>
          <p:cNvPr id="2" name="">
            <a:extLst xmlns:a="http://schemas.openxmlformats.org/drawingml/2006/main">
              <a:ext uri="{FF2B5EF4-FFF2-40B4-BE49-F238E27FC236}">
                <a16:creationId xmlns:a16="http://schemas.microsoft.com/office/drawing/2014/main" id="{F7931109-7A5F-4797-8C61-82855C2A4336}"/>
              </a:ext>
            </a:extLst>
          </p:cNvPr>
          <p:cNvSpPr>
            <a:spLocks xmlns:a="http://schemas.openxmlformats.org/drawingml/2006/main" noGrp="1"/>
          </p:cNvSpPr>
          <p:nvPr/>
        </p:nvSpPr>
        <p:spPr>
          <a:xfrm xmlns:a="http://schemas.openxmlformats.org/drawingml/2006/main">
            <a:off x="647700" y="942975"/>
            <a:ext cx="108966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FFFFF"/>
                </a:solidFill>
                <a:latin typeface="Liberation Sans"/>
                <a:ea typeface="Liberation Sans"/>
                <a:cs typeface="Liberation Sans"/>
              </a:defRPr>
            </a:pPr>
            <a:r>
              <a:rPr sz="3600" b="1">
                <a:solidFill>
                  <a:srgbClr val="FFFFFF"/>
                </a:solidFill>
                <a:latin typeface="Liberation Sans"/>
                <a:ea typeface="Liberation Sans"/>
                <a:cs typeface="Liberation Sans"/>
              </a:rPr>
              <a:t>One operator. A measurable pilot.</a:t>
            </a:r>
          </a:p>
        </p:txBody>
      </p:sp>
      <p:sp>
        <p:nvSpPr>
          <p:cNvPr id="3" name="">
            <a:extLst xmlns:a="http://schemas.openxmlformats.org/drawingml/2006/main">
              <a:ext uri="{FF2B5EF4-FFF2-40B4-BE49-F238E27FC236}">
                <a16:creationId xmlns:a16="http://schemas.microsoft.com/office/drawing/2014/main" id="{3ACCEB67-34CF-4B85-8F64-9FECD466134A}"/>
              </a:ext>
            </a:extLst>
          </p:cNvPr>
          <p:cNvSpPr>
            <a:spLocks xmlns:a="http://schemas.openxmlformats.org/drawingml/2006/main" noGrp="1"/>
          </p:cNvSpPr>
          <p:nvPr/>
        </p:nvSpPr>
        <p:spPr>
          <a:xfrm xmlns:a="http://schemas.openxmlformats.org/drawingml/2006/main">
            <a:off x="10906125" y="6334125"/>
            <a:ext cx="590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ADC1B9"/>
                </a:solidFill>
                <a:latin typeface="Liberation Sans"/>
                <a:ea typeface="Liberation Sans"/>
                <a:cs typeface="Liberation Sans"/>
              </a:defRPr>
            </a:pPr>
            <a:r>
              <a:rPr sz="1200" b="0">
                <a:solidFill>
                  <a:srgbClr val="ADC1B9"/>
                </a:solidFill>
                <a:latin typeface="Liberation Sans"/>
                <a:ea typeface="Liberation Sans"/>
                <a:cs typeface="Liberation Sans"/>
              </a:rPr>
              <a:t>10</a:t>
            </a:r>
          </a:p>
        </p:txBody>
      </p:sp>
      <p:sp>
        <p:nvSpPr>
          <p:cNvPr id="4" name="">
            <a:extLst xmlns:a="http://schemas.openxmlformats.org/drawingml/2006/main">
              <a:ext uri="{FF2B5EF4-FFF2-40B4-BE49-F238E27FC236}">
                <a16:creationId xmlns:a16="http://schemas.microsoft.com/office/drawing/2014/main" id="{52D46C7C-B973-43A8-B817-62720D156F38}"/>
              </a:ext>
            </a:extLst>
          </p:cNvPr>
          <p:cNvSpPr>
            <a:spLocks xmlns:a="http://schemas.openxmlformats.org/drawingml/2006/main" noGrp="1"/>
          </p:cNvSpPr>
          <p:nvPr/>
        </p:nvSpPr>
        <p:spPr>
          <a:xfrm xmlns:a="http://schemas.openxmlformats.org/drawingml/2006/main">
            <a:off x="647700" y="2457450"/>
            <a:ext cx="10668000" cy="1857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Liberation Sans"/>
                <a:ea typeface="Liberation Sans"/>
                <a:cs typeface="Liberation Sans"/>
              </a:defRPr>
            </a:pPr>
            <a:r>
              <a:rPr sz="3150" b="1">
                <a:solidFill>
                  <a:srgbClr val="FFFFFF"/>
                </a:solidFill>
                <a:latin typeface="Liberation Sans"/>
                <a:ea typeface="Liberation Sans"/>
                <a:cs typeface="Liberation Sans"/>
              </a:rPr>
              <a:t>We need a drone inspection team</a:t>
            </a:r>
          </a:p>
          <a:p xmlns:a="http://schemas.openxmlformats.org/drawingml/2006/main">
            <a:pPr>
              <a:defRPr sz="3150" b="1">
                <a:solidFill>
                  <a:srgbClr val="FFFFFF"/>
                </a:solidFill>
                <a:latin typeface="Liberation Sans"/>
                <a:ea typeface="Liberation Sans"/>
                <a:cs typeface="Liberation Sans"/>
              </a:defRPr>
            </a:pPr>
            <a:r>
              <a:rPr sz="3150" b="1">
                <a:solidFill>
                  <a:srgbClr val="FFFFFF"/>
                </a:solidFill>
                <a:latin typeface="Liberation Sans"/>
                <a:ea typeface="Liberation Sans"/>
                <a:cs typeface="Liberation Sans"/>
              </a:rPr>
              <a:t>with recurring sites and a coordinator</a:t>
            </a:r>
          </a:p>
          <a:p xmlns:a="http://schemas.openxmlformats.org/drawingml/2006/main">
            <a:pPr>
              <a:defRPr sz="3150" b="1">
                <a:solidFill>
                  <a:srgbClr val="FFFFFF"/>
                </a:solidFill>
                <a:latin typeface="Liberation Sans"/>
                <a:ea typeface="Liberation Sans"/>
                <a:cs typeface="Liberation Sans"/>
              </a:defRPr>
            </a:pPr>
            <a:r>
              <a:rPr sz="3150" b="1">
                <a:solidFill>
                  <a:srgbClr val="FFFFFF"/>
                </a:solidFill>
                <a:latin typeface="Liberation Sans"/>
                <a:ea typeface="Liberation Sans"/>
                <a:cs typeface="Liberation Sans"/>
              </a:rPr>
              <a:t>willing to test the evidence workflow.</a:t>
            </a:r>
          </a:p>
        </p:txBody>
      </p:sp>
      <p:sp>
        <p:nvSpPr>
          <p:cNvPr id="5" name="">
            <a:extLst xmlns:a="http://schemas.openxmlformats.org/drawingml/2006/main">
              <a:ext uri="{FF2B5EF4-FFF2-40B4-BE49-F238E27FC236}">
                <a16:creationId xmlns:a16="http://schemas.microsoft.com/office/drawing/2014/main" id="{090144B7-0B94-4844-85E1-0CFAE274F872}"/>
              </a:ext>
            </a:extLst>
          </p:cNvPr>
          <p:cNvSpPr>
            <a:spLocks xmlns:a="http://schemas.openxmlformats.org/drawingml/2006/main" noGrp="1"/>
          </p:cNvSpPr>
          <p:nvPr/>
        </p:nvSpPr>
        <p:spPr>
          <a:xfrm xmlns:a="http://schemas.openxmlformats.org/drawingml/2006/main">
            <a:off x="647700" y="4953000"/>
            <a:ext cx="666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D5ED64"/>
                </a:solidFill>
                <a:latin typeface="Liberation Sans"/>
                <a:ea typeface="Liberation Sans"/>
                <a:cs typeface="Liberation Sans"/>
              </a:defRPr>
            </a:pPr>
            <a:r>
              <a:rPr sz="2175" b="1">
                <a:solidFill>
                  <a:srgbClr val="D5ED64"/>
                </a:solidFill>
                <a:latin typeface="Liberation Sans"/>
                <a:ea typeface="Liberation Sans"/>
                <a:cs typeface="Liberation Sans"/>
              </a:rPr>
              <a:t>Shivam Gupta</a:t>
            </a:r>
          </a:p>
          <a:p xmlns:a="http://schemas.openxmlformats.org/drawingml/2006/main">
            <a:pPr>
              <a:defRPr sz="2175" b="1">
                <a:solidFill>
                  <a:srgbClr val="D5ED64"/>
                </a:solidFill>
                <a:latin typeface="Liberation Sans"/>
                <a:ea typeface="Liberation Sans"/>
                <a:cs typeface="Liberation Sans"/>
              </a:defRPr>
            </a:pPr>
            <a:r>
              <a:rPr sz="2175" b="1">
                <a:solidFill>
                  <a:srgbClr val="D5ED64"/>
                </a:solidFill>
                <a:latin typeface="Liberation Sans"/>
                <a:ea typeface="Liberation Sans"/>
                <a:cs typeface="Liberation Sans"/>
              </a:rPr>
              <a:t>Founder and product lead</a:t>
            </a:r>
          </a:p>
        </p:txBody>
      </p:sp>
      <p:sp>
        <p:nvSpPr>
          <p:cNvPr id="6" name="">
            <a:extLst xmlns:a="http://schemas.openxmlformats.org/drawingml/2006/main">
              <a:ext uri="{FF2B5EF4-FFF2-40B4-BE49-F238E27FC236}">
                <a16:creationId xmlns:a16="http://schemas.microsoft.com/office/drawing/2014/main" id="{257FBBDE-6ADF-4DAA-AFA4-9F40E1B1C0C8}"/>
              </a:ext>
            </a:extLst>
          </p:cNvPr>
          <p:cNvSpPr>
            <a:spLocks xmlns:a="http://schemas.openxmlformats.org/drawingml/2006/main" noGrp="1"/>
          </p:cNvSpPr>
          <p:nvPr/>
        </p:nvSpPr>
        <p:spPr>
          <a:xfrm xmlns:a="http://schemas.openxmlformats.org/drawingml/2006/main">
            <a:off x="647700" y="5953125"/>
            <a:ext cx="1009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BED0C8"/>
                </a:solidFill>
                <a:latin typeface="Liberation Sans"/>
                <a:ea typeface="Liberation Sans"/>
                <a:cs typeface="Liberation Sans"/>
              </a:defRPr>
            </a:pPr>
            <a:r>
              <a:rPr sz="1875" b="0">
                <a:solidFill>
                  <a:srgbClr val="BED0C8"/>
                </a:solidFill>
                <a:latin typeface="Liberation Sans"/>
                <a:ea typeface="Liberation Sans"/>
                <a:cs typeface="Liberation Sans"/>
                <a:hlinkClick xmlns:r="http://schemas.openxmlformats.org/officeDocument/2006/relationships" r:id="R1b89c020073f42be"/>
              </a:rPr>
              <a:t>groundproof-flight.web.app</a:t>
            </a:r>
          </a:p>
        </p:txBody>
      </p:sp>
    </p:spTree>
    <p:extLst>
      <p:ext uri="{BB962C8B-B14F-4D97-AF65-F5344CB8AC3E}">
        <p14:creationId xmlns:p14="http://schemas.microsoft.com/office/powerpoint/2010/main" val="66379526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2026-09-23T10:59:51.2270000Z</dcterms:created>
  <dcterms:modified xsi:type="dcterms:W3CDTF">2026-09-23T10:59:51.2270000Z</dcterms:modified>
</coreProperties>
</file>